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3716000" cx="2438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Montserrat Ligh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7B2001B-287C-4519-9BCF-9135838FD213}">
  <a:tblStyle styleId="{87B2001B-287C-4519-9BCF-9135838FD21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306AD35-B0BA-4546-940F-582681F14A6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Light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Light-italic.fntdata"/><Relationship Id="rId25" Type="http://schemas.openxmlformats.org/officeDocument/2006/relationships/font" Target="fonts/MontserratLight-bold.fntdata"/><Relationship Id="rId27" Type="http://schemas.openxmlformats.org/officeDocument/2006/relationships/font" Target="fonts/Montserrat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Montserrat"/>
                <a:ea typeface="Montserrat"/>
                <a:cs typeface="Montserrat"/>
                <a:sym typeface="Montserra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Montserrat"/>
                <a:ea typeface="Montserrat"/>
                <a:cs typeface="Montserrat"/>
                <a:sym typeface="Montserrat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Montserrat"/>
                <a:ea typeface="Montserrat"/>
                <a:cs typeface="Montserrat"/>
                <a:sym typeface="Montserrat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Montserrat"/>
                <a:ea typeface="Montserrat"/>
                <a:cs typeface="Montserrat"/>
                <a:sym typeface="Montserrat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Montserrat"/>
                <a:ea typeface="Montserrat"/>
                <a:cs typeface="Montserrat"/>
                <a:sym typeface="Montserrat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Montserrat"/>
                <a:ea typeface="Montserrat"/>
                <a:cs typeface="Montserrat"/>
                <a:sym typeface="Montserrat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Montserrat"/>
                <a:ea typeface="Montserrat"/>
                <a:cs typeface="Montserrat"/>
                <a:sym typeface="Montserrat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Montserrat"/>
                <a:ea typeface="Montserrat"/>
                <a:cs typeface="Montserrat"/>
                <a:sym typeface="Montserrat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ac096c778_1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aac096c778_1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11aa3b33f_0_1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11aa3b33f_0_1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644e94fed_0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a644e94fed_0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aac096c778_0_1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rgbClr val="555555"/>
                </a:solidFill>
              </a:rPr>
              <a:t>INDIVIDUAL MASTERPIECE PROJECTS:</a:t>
            </a:r>
            <a:endParaRPr b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Char char="●"/>
            </a:pPr>
            <a:r>
              <a:rPr b="1" i="1" lang="en-US" sz="800">
                <a:solidFill>
                  <a:srgbClr val="555555"/>
                </a:solidFill>
              </a:rPr>
              <a:t>Maddie</a:t>
            </a:r>
            <a:r>
              <a:rPr lang="en-US" sz="800">
                <a:solidFill>
                  <a:srgbClr val="555555"/>
                </a:solidFill>
              </a:rPr>
              <a:t> created the first teen-produced Broadway musical with 67,000 TikTok followers and millions of views</a:t>
            </a:r>
            <a:endParaRPr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Char char="●"/>
            </a:pPr>
            <a:r>
              <a:rPr b="1" i="1" lang="en-US" sz="800">
                <a:solidFill>
                  <a:srgbClr val="555555"/>
                </a:solidFill>
              </a:rPr>
              <a:t>Kate</a:t>
            </a:r>
            <a:r>
              <a:rPr lang="en-US" sz="800">
                <a:solidFill>
                  <a:srgbClr val="555555"/>
                </a:solidFill>
              </a:rPr>
              <a:t> wrote a newsletter with 16,000 Substack subscribers and 33,000 X followers</a:t>
            </a:r>
            <a:endParaRPr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Char char="●"/>
            </a:pPr>
            <a:r>
              <a:rPr b="1" lang="en-US" sz="800">
                <a:solidFill>
                  <a:srgbClr val="555555"/>
                </a:solidFill>
              </a:rPr>
              <a:t>Alex </a:t>
            </a:r>
            <a:r>
              <a:rPr lang="en-US" sz="800">
                <a:solidFill>
                  <a:srgbClr val="555555"/>
                </a:solidFill>
              </a:rPr>
              <a:t>created “Berry," an AI-powered plush toy for teens' mental health</a:t>
            </a:r>
            <a:endParaRPr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Char char="●"/>
            </a:pPr>
            <a:r>
              <a:rPr b="1" i="1" lang="en-US" sz="800">
                <a:solidFill>
                  <a:srgbClr val="555555"/>
                </a:solidFill>
              </a:rPr>
              <a:t>Sloane</a:t>
            </a:r>
            <a:r>
              <a:rPr lang="en-US" sz="800">
                <a:solidFill>
                  <a:srgbClr val="555555"/>
                </a:solidFill>
              </a:rPr>
              <a:t> built "InnerWorld" app with 2.5M+ social media following, solving teen girl mental health crisis</a:t>
            </a:r>
            <a:endParaRPr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Char char="●"/>
            </a:pPr>
            <a:r>
              <a:rPr b="1" i="1" lang="en-US" sz="800">
                <a:solidFill>
                  <a:srgbClr val="555555"/>
                </a:solidFill>
              </a:rPr>
              <a:t>Rhett</a:t>
            </a:r>
            <a:r>
              <a:rPr lang="en-US" sz="800">
                <a:solidFill>
                  <a:srgbClr val="555555"/>
                </a:solidFill>
              </a:rPr>
              <a:t> raised $3.2 million to build largest bike park in Texas</a:t>
            </a:r>
            <a:endParaRPr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Char char="●"/>
            </a:pPr>
            <a:r>
              <a:rPr b="1" i="1" lang="en-US" sz="800">
                <a:solidFill>
                  <a:srgbClr val="555555"/>
                </a:solidFill>
              </a:rPr>
              <a:t>Grace</a:t>
            </a:r>
            <a:r>
              <a:rPr lang="en-US" sz="800">
                <a:solidFill>
                  <a:srgbClr val="555555"/>
                </a:solidFill>
              </a:rPr>
              <a:t> produced a documentary on cancer with 5 million views, testifying at U.S. Senate</a:t>
            </a:r>
            <a:endParaRPr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Char char="●"/>
            </a:pPr>
            <a:r>
              <a:rPr b="1" lang="en-US" sz="800">
                <a:solidFill>
                  <a:srgbClr val="555555"/>
                </a:solidFill>
              </a:rPr>
              <a:t>Everest</a:t>
            </a:r>
            <a:r>
              <a:rPr lang="en-US" sz="800">
                <a:solidFill>
                  <a:srgbClr val="555555"/>
                </a:solidFill>
              </a:rPr>
              <a:t> (10) became first elementary-aged girl to earn a silver metal the History Bee and Bowl National Championships</a:t>
            </a:r>
            <a:endParaRPr sz="8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800">
                <a:solidFill>
                  <a:srgbClr val="555555"/>
                </a:solidFill>
              </a:rPr>
              <a:t>GROUP WORKSHOPS &amp; PROJECTS</a:t>
            </a:r>
            <a:endParaRPr b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Char char="●"/>
            </a:pPr>
            <a:r>
              <a:rPr i="1" lang="en-US" sz="800">
                <a:solidFill>
                  <a:srgbClr val="555555"/>
                </a:solidFill>
              </a:rPr>
              <a:t>High schoolers traveling to Ukraine on a humanitarian mission to help kids whose schools were destroyed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Char char="●"/>
            </a:pPr>
            <a:r>
              <a:rPr i="1" lang="en-US" sz="800">
                <a:solidFill>
                  <a:srgbClr val="555555"/>
                </a:solidFill>
              </a:rPr>
              <a:t>Fifth graders presenting TED-style talks at NYC open mic nights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Font typeface="Montserrat"/>
              <a:buChar char="●"/>
            </a:pPr>
            <a:r>
              <a:rPr i="1" lang="en-US" sz="800">
                <a:solidFill>
                  <a:srgbClr val="555555"/>
                </a:solidFill>
              </a:rPr>
              <a:t>Placed 2nd in the world and 1st in the U.S. in the prestigious Global AI Debates</a:t>
            </a:r>
            <a:endParaRPr i="1" sz="8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en-US" sz="800">
                <a:solidFill>
                  <a:srgbClr val="555555"/>
                </a:solidFill>
              </a:rPr>
              <a:t>AGGREGATE – maybe instead?</a:t>
            </a:r>
            <a:endParaRPr b="1"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$6.45+ million in seed capital raised across student ventures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9 students selected as TEDx Youth speakers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10+ million combined documentary/video views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2.6+ million combined social media following across student projects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Multiple TV appearances (Fox News, Dr. Phil, national news coverage)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U.S. Senate testimony on health policy</a:t>
            </a:r>
            <a:endParaRPr i="1" sz="8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1" sz="8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i="1" sz="8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i="1" lang="en-US" sz="800">
                <a:solidFill>
                  <a:srgbClr val="555555"/>
                </a:solidFill>
              </a:rPr>
              <a:t>INDIVIDUAL STUDENT PROJECTS (EXPANDED)</a:t>
            </a:r>
            <a:endParaRPr b="1"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Maddie - Creating first teen-produced Broadway musical, 67K TikTok followers, millions of views, 2 off-Broadway performances in NYC attended by Broadway producers and investors, releasing first single on Spotify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Kate - Built education newsletter with 16K Substack subscribers and 33K X followers, helping parents bring education into the 21st century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Grace - Produced cancer documentary with 5+ million views, 66K X followers, testified at U.S. Senate, interviewed on Fox News and Dr. Phil, regularly invited to testify before state legislatures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Rhett - Raised $3.15 million to build largest bike park in Texas, competitive mountain biker who turned passion into reality through land acquisition and investor pitches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One senior - Raised $3.3 million from investors (majority from people previously unknown), built business with school support and afternoon project time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Sloane- Built 2.5M+ social media following, created "InnerWorld" app (first digital emotional headquarters) solving teen girl mental health crisis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Alex - Building "Berry," an AI-powered plush toy for teens' mental health with goal to reach 100 million people by 2035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Elle (16) - Built AI-enabled dating advice app for teenagers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Geetesh - Building "Y Combinator for teenagers," created 4-week AI and life skills curriculum for refugee camp in Malawi (100% of students reported program helped with life skills and AI literacy)</a:t>
            </a:r>
            <a:endParaRPr i="1" sz="800">
              <a:solidFill>
                <a:srgbClr val="555555"/>
              </a:solidFill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800"/>
              <a:buChar char="●"/>
            </a:pPr>
            <a:r>
              <a:rPr i="1" lang="en-US" sz="800">
                <a:solidFill>
                  <a:srgbClr val="555555"/>
                </a:solidFill>
              </a:rPr>
              <a:t>Byron (10) - Managed Airbnb property project learning finance, real estate, property management, vetting tenants, and marketing</a:t>
            </a:r>
            <a:endParaRPr i="1" sz="8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555555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800"/>
          </a:p>
        </p:txBody>
      </p:sp>
      <p:sp>
        <p:nvSpPr>
          <p:cNvPr id="126" name="Google Shape;126;g3aac096c778_0_1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ac096c778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3aac096c77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b6dd1ec0e_1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g3ab6dd1ec0e_1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ac096c778_0_1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g3aac096c778_0_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ba4af6b3e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0" name="Google Shape;220;g3aba4af6b3e_0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b82896ad3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7" name="Google Shape;227;g3ab82896ad3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2455885" y="12802235"/>
            <a:ext cx="503429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cap="none" strike="noStrike"/>
          </a:p>
        </p:txBody>
      </p:sp>
      <p:sp>
        <p:nvSpPr>
          <p:cNvPr id="13" name="Google Shape;13;p2"/>
          <p:cNvSpPr txBox="1"/>
          <p:nvPr>
            <p:ph type="title"/>
          </p:nvPr>
        </p:nvSpPr>
        <p:spPr>
          <a:xfrm>
            <a:off x="1016000" y="1524000"/>
            <a:ext cx="22352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1016000" y="762000"/>
            <a:ext cx="2235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E5"/>
              </a:buClr>
              <a:buSzPts val="3200"/>
              <a:buFont typeface="Montserrat"/>
              <a:buNone/>
              <a:defRPr b="1" sz="3200" cap="none">
                <a:solidFill>
                  <a:srgbClr val="0000E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0040" lvl="1" marL="9144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44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-"/>
              <a:defRPr/>
            </a:lvl3pPr>
            <a:lvl4pPr indent="-320039" lvl="3" marL="18288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44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1016000" y="1524000"/>
            <a:ext cx="2235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23121899" y="13178040"/>
            <a:ext cx="246102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1pPr>
            <a:lvl2pPr indent="0" lvl="1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2pPr>
            <a:lvl3pPr indent="0" lvl="2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3pPr>
            <a:lvl4pPr indent="0" lvl="3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4pPr>
            <a:lvl5pPr indent="0" lvl="4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5pPr>
            <a:lvl6pPr indent="0" lvl="5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6pPr>
            <a:lvl7pPr indent="0" lvl="6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7pPr>
            <a:lvl8pPr indent="0" lvl="7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8pPr>
            <a:lvl9pPr indent="0" lvl="8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1016000" y="762000"/>
            <a:ext cx="2235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E5"/>
              </a:buClr>
              <a:buSzPts val="3200"/>
              <a:buFont typeface="Montserrat"/>
              <a:buNone/>
              <a:defRPr b="1" sz="3200" cap="none">
                <a:solidFill>
                  <a:srgbClr val="0000E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0040" lvl="1" marL="9144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44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-"/>
              <a:defRPr/>
            </a:lvl3pPr>
            <a:lvl4pPr indent="-320039" lvl="3" marL="18288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44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ale" showMasterSp="0">
  <p:cSld name="Main Pale">
    <p:bg>
      <p:bgPr>
        <a:solidFill>
          <a:srgbClr val="F4F5F7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23121899" y="13178040"/>
            <a:ext cx="246102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1pPr>
            <a:lvl2pPr indent="0" lvl="1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2pPr>
            <a:lvl3pPr indent="0" lvl="2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3pPr>
            <a:lvl4pPr indent="0" lvl="3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4pPr>
            <a:lvl5pPr indent="0" lvl="4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5pPr>
            <a:lvl6pPr indent="0" lvl="5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6pPr>
            <a:lvl7pPr indent="0" lvl="6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7pPr>
            <a:lvl8pPr indent="0" lvl="7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8pPr>
            <a:lvl9pPr indent="0" lvl="8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1016000" y="1524000"/>
            <a:ext cx="2235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016000" y="762000"/>
            <a:ext cx="2235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E5"/>
              </a:buClr>
              <a:buSzPts val="3200"/>
              <a:buFont typeface="Montserrat"/>
              <a:buNone/>
              <a:defRPr b="1" sz="3200" cap="none">
                <a:solidFill>
                  <a:srgbClr val="0000E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0040" lvl="1" marL="9144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44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-"/>
              <a:defRPr/>
            </a:lvl3pPr>
            <a:lvl4pPr indent="-320039" lvl="3" marL="18288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44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/>
        </p:nvSpPr>
        <p:spPr>
          <a:xfrm>
            <a:off x="1016000" y="13171690"/>
            <a:ext cx="209550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5714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© 2025. Confidential &amp; Proprietary.</a:t>
            </a:r>
            <a:endParaRPr/>
          </a:p>
        </p:txBody>
      </p:sp>
      <p:pic>
        <p:nvPicPr>
          <p:cNvPr descr="Image" id="24" name="Google Shape;24;p4"/>
          <p:cNvPicPr preferRelativeResize="0"/>
          <p:nvPr/>
        </p:nvPicPr>
        <p:blipFill rotWithShape="1">
          <a:blip r:embed="rId2">
            <a:alphaModFix/>
          </a:blip>
          <a:srcRect b="0" l="534" r="534" t="0"/>
          <a:stretch/>
        </p:blipFill>
        <p:spPr>
          <a:xfrm>
            <a:off x="1016000" y="12858267"/>
            <a:ext cx="1823992" cy="666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Dark" showMasterSp="0">
  <p:cSld name="Main Dark">
    <p:bg>
      <p:bgPr>
        <a:solidFill>
          <a:srgbClr val="0000E5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1016000" y="1524000"/>
            <a:ext cx="2235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Montserrat SemiBold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23121899" y="13178040"/>
            <a:ext cx="246102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1pPr>
            <a:lvl2pPr indent="0" lvl="1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2pPr>
            <a:lvl3pPr indent="0" lvl="2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3pPr>
            <a:lvl4pPr indent="0" lvl="3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4pPr>
            <a:lvl5pPr indent="0" lvl="4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5pPr>
            <a:lvl6pPr indent="0" lvl="5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6pPr>
            <a:lvl7pPr indent="0" lvl="6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7pPr>
            <a:lvl8pPr indent="0" lvl="7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8pPr>
            <a:lvl9pPr indent="0" lvl="8" marL="0" marR="57149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sz="1800">
                <a:solidFill>
                  <a:srgbClr val="AAAAAA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1016000" y="762000"/>
            <a:ext cx="22352000" cy="5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Montserrat"/>
              <a:buNone/>
              <a:defRPr b="1" sz="3200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20040" lvl="1" marL="9144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44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-"/>
              <a:defRPr/>
            </a:lvl3pPr>
            <a:lvl4pPr indent="-320039" lvl="3" marL="18288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44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-"/>
              <a:defRPr/>
            </a:lvl5pPr>
            <a:lvl6pPr indent="-342900" lvl="5" marL="27432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/>
        </p:nvSpPr>
        <p:spPr>
          <a:xfrm>
            <a:off x="1016000" y="13171690"/>
            <a:ext cx="209550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5714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© 2025. Confidential &amp; Proprietary.</a:t>
            </a:r>
            <a:endParaRPr/>
          </a:p>
        </p:txBody>
      </p:sp>
      <p:pic>
        <p:nvPicPr>
          <p:cNvPr descr="Image" id="30" name="Google Shape;30;p5"/>
          <p:cNvPicPr preferRelativeResize="0"/>
          <p:nvPr/>
        </p:nvPicPr>
        <p:blipFill rotWithShape="1">
          <a:blip r:embed="rId2">
            <a:alphaModFix/>
          </a:blip>
          <a:srcRect b="0" l="8214" r="8214" t="0"/>
          <a:stretch/>
        </p:blipFill>
        <p:spPr>
          <a:xfrm>
            <a:off x="1016000" y="12812456"/>
            <a:ext cx="1823992" cy="757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ors" showMasterSp="0">
  <p:cSld name="Color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381000" y="381000"/>
            <a:ext cx="4685595" cy="4826001"/>
          </a:xfrm>
          <a:prstGeom prst="rect">
            <a:avLst/>
          </a:prstGeom>
          <a:solidFill>
            <a:srgbClr val="01050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" name="Google Shape;33;p6"/>
          <p:cNvSpPr/>
          <p:nvPr/>
        </p:nvSpPr>
        <p:spPr>
          <a:xfrm>
            <a:off x="9849201" y="381000"/>
            <a:ext cx="4685595" cy="4826001"/>
          </a:xfrm>
          <a:prstGeom prst="rect">
            <a:avLst/>
          </a:prstGeom>
          <a:solidFill>
            <a:srgbClr val="6BBF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" name="Google Shape;34;p6"/>
          <p:cNvSpPr/>
          <p:nvPr/>
        </p:nvSpPr>
        <p:spPr>
          <a:xfrm>
            <a:off x="5115100" y="381000"/>
            <a:ext cx="4685595" cy="4826001"/>
          </a:xfrm>
          <a:prstGeom prst="rect">
            <a:avLst/>
          </a:prstGeom>
          <a:solidFill>
            <a:srgbClr val="0000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14583305" y="381000"/>
            <a:ext cx="4685595" cy="4826001"/>
          </a:xfrm>
          <a:prstGeom prst="rect">
            <a:avLst/>
          </a:prstGeom>
          <a:solidFill>
            <a:srgbClr val="C4EC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6"/>
          <p:cNvSpPr/>
          <p:nvPr/>
        </p:nvSpPr>
        <p:spPr>
          <a:xfrm>
            <a:off x="381000" y="5269654"/>
            <a:ext cx="4685595" cy="1524001"/>
          </a:xfrm>
          <a:prstGeom prst="rect">
            <a:avLst/>
          </a:prstGeom>
          <a:solidFill>
            <a:srgbClr val="01050E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" name="Google Shape;37;p6"/>
          <p:cNvSpPr/>
          <p:nvPr/>
        </p:nvSpPr>
        <p:spPr>
          <a:xfrm>
            <a:off x="9849201" y="5271061"/>
            <a:ext cx="4685595" cy="1524001"/>
          </a:xfrm>
          <a:prstGeom prst="rect">
            <a:avLst/>
          </a:prstGeom>
          <a:solidFill>
            <a:srgbClr val="6BBFE2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" name="Google Shape;38;p6"/>
          <p:cNvSpPr/>
          <p:nvPr/>
        </p:nvSpPr>
        <p:spPr>
          <a:xfrm>
            <a:off x="5115100" y="5268248"/>
            <a:ext cx="4685595" cy="1524001"/>
          </a:xfrm>
          <a:prstGeom prst="rect">
            <a:avLst/>
          </a:prstGeom>
          <a:solidFill>
            <a:srgbClr val="0000E5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" name="Google Shape;39;p6"/>
          <p:cNvSpPr/>
          <p:nvPr/>
        </p:nvSpPr>
        <p:spPr>
          <a:xfrm>
            <a:off x="14583305" y="5266842"/>
            <a:ext cx="4685595" cy="1524001"/>
          </a:xfrm>
          <a:prstGeom prst="rect">
            <a:avLst/>
          </a:prstGeom>
          <a:solidFill>
            <a:srgbClr val="C4ECFD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381000" y="6854538"/>
            <a:ext cx="4685595" cy="1524001"/>
          </a:xfrm>
          <a:prstGeom prst="rect">
            <a:avLst/>
          </a:prstGeom>
          <a:solidFill>
            <a:srgbClr val="01050E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" name="Google Shape;41;p6"/>
          <p:cNvSpPr/>
          <p:nvPr/>
        </p:nvSpPr>
        <p:spPr>
          <a:xfrm>
            <a:off x="9849201" y="6855945"/>
            <a:ext cx="4685595" cy="1524001"/>
          </a:xfrm>
          <a:prstGeom prst="rect">
            <a:avLst/>
          </a:prstGeom>
          <a:solidFill>
            <a:srgbClr val="6BBFE2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5115100" y="6853132"/>
            <a:ext cx="4685595" cy="1524001"/>
          </a:xfrm>
          <a:prstGeom prst="rect">
            <a:avLst/>
          </a:prstGeom>
          <a:solidFill>
            <a:srgbClr val="0000E5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" name="Google Shape;43;p6"/>
          <p:cNvSpPr/>
          <p:nvPr/>
        </p:nvSpPr>
        <p:spPr>
          <a:xfrm>
            <a:off x="14583305" y="6857350"/>
            <a:ext cx="4685595" cy="1524001"/>
          </a:xfrm>
          <a:prstGeom prst="rect">
            <a:avLst/>
          </a:prstGeom>
          <a:solidFill>
            <a:srgbClr val="C4ECFD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381000" y="8439422"/>
            <a:ext cx="4685595" cy="1524001"/>
          </a:xfrm>
          <a:prstGeom prst="rect">
            <a:avLst/>
          </a:prstGeom>
          <a:solidFill>
            <a:srgbClr val="01050E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9849201" y="8440828"/>
            <a:ext cx="4685595" cy="1524001"/>
          </a:xfrm>
          <a:prstGeom prst="rect">
            <a:avLst/>
          </a:prstGeom>
          <a:solidFill>
            <a:srgbClr val="6BBFE2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5115100" y="8438017"/>
            <a:ext cx="4685595" cy="1524001"/>
          </a:xfrm>
          <a:prstGeom prst="rect">
            <a:avLst/>
          </a:prstGeom>
          <a:solidFill>
            <a:srgbClr val="0000E5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14583305" y="8442235"/>
            <a:ext cx="4685595" cy="1524001"/>
          </a:xfrm>
          <a:prstGeom prst="rect">
            <a:avLst/>
          </a:prstGeom>
          <a:solidFill>
            <a:srgbClr val="C4ECFD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381000" y="10024307"/>
            <a:ext cx="4685595" cy="1524001"/>
          </a:xfrm>
          <a:prstGeom prst="rect">
            <a:avLst/>
          </a:prstGeom>
          <a:solidFill>
            <a:srgbClr val="01050E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9849201" y="10025712"/>
            <a:ext cx="4685595" cy="1524001"/>
          </a:xfrm>
          <a:prstGeom prst="rect">
            <a:avLst/>
          </a:prstGeom>
          <a:solidFill>
            <a:srgbClr val="6BBFE2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5115100" y="10022901"/>
            <a:ext cx="4685595" cy="1524001"/>
          </a:xfrm>
          <a:prstGeom prst="rect">
            <a:avLst/>
          </a:prstGeom>
          <a:solidFill>
            <a:srgbClr val="0000E5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4583305" y="10027119"/>
            <a:ext cx="4685595" cy="1524001"/>
          </a:xfrm>
          <a:prstGeom prst="rect">
            <a:avLst/>
          </a:prstGeom>
          <a:solidFill>
            <a:srgbClr val="C4ECFD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9317405" y="380999"/>
            <a:ext cx="4685595" cy="4826001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19317405" y="5266842"/>
            <a:ext cx="4685595" cy="1524001"/>
          </a:xfrm>
          <a:prstGeom prst="rect">
            <a:avLst/>
          </a:prstGeom>
          <a:solidFill>
            <a:srgbClr val="F9FAFB">
              <a:alpha val="8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9317405" y="6857350"/>
            <a:ext cx="4685595" cy="1524001"/>
          </a:xfrm>
          <a:prstGeom prst="rect">
            <a:avLst/>
          </a:prstGeom>
          <a:solidFill>
            <a:srgbClr val="F9FAFB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9317405" y="8442235"/>
            <a:ext cx="4685595" cy="1524001"/>
          </a:xfrm>
          <a:prstGeom prst="rect">
            <a:avLst/>
          </a:prstGeom>
          <a:solidFill>
            <a:srgbClr val="F9FAFB">
              <a:alpha val="4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19317405" y="10027119"/>
            <a:ext cx="4685595" cy="1524001"/>
          </a:xfrm>
          <a:prstGeom prst="rect">
            <a:avLst/>
          </a:prstGeom>
          <a:solidFill>
            <a:srgbClr val="F9FAFB">
              <a:alpha val="2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381000" y="11610598"/>
            <a:ext cx="4685594" cy="1524001"/>
          </a:xfrm>
          <a:prstGeom prst="rect">
            <a:avLst/>
          </a:prstGeom>
          <a:solidFill>
            <a:srgbClr val="01050E">
              <a:alpha val="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9849201" y="11612003"/>
            <a:ext cx="4685594" cy="1524001"/>
          </a:xfrm>
          <a:prstGeom prst="rect">
            <a:avLst/>
          </a:prstGeom>
          <a:solidFill>
            <a:srgbClr val="6BBFE2">
              <a:alpha val="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5115099" y="11609192"/>
            <a:ext cx="4685595" cy="1524001"/>
          </a:xfrm>
          <a:prstGeom prst="rect">
            <a:avLst/>
          </a:prstGeom>
          <a:solidFill>
            <a:srgbClr val="0000E5">
              <a:alpha val="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4583305" y="11613410"/>
            <a:ext cx="4685595" cy="1524001"/>
          </a:xfrm>
          <a:prstGeom prst="rect">
            <a:avLst/>
          </a:prstGeom>
          <a:solidFill>
            <a:srgbClr val="C4ECFD">
              <a:alpha val="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9317405" y="11613410"/>
            <a:ext cx="4685595" cy="1524001"/>
          </a:xfrm>
          <a:prstGeom prst="rect">
            <a:avLst/>
          </a:prstGeom>
          <a:solidFill>
            <a:srgbClr val="F9FAFB">
              <a:alpha val="980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5115100" y="381000"/>
            <a:ext cx="4685595" cy="2290075"/>
          </a:xfrm>
          <a:prstGeom prst="rect">
            <a:avLst/>
          </a:prstGeom>
          <a:solidFill>
            <a:srgbClr val="0000A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6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6"/>
          <p:cNvSpPr txBox="1"/>
          <p:nvPr>
            <p:ph idx="12" type="sldNum"/>
          </p:nvPr>
        </p:nvSpPr>
        <p:spPr>
          <a:xfrm>
            <a:off x="22455885" y="12802235"/>
            <a:ext cx="503429" cy="55118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400"/>
              <a:buFont typeface="Montserrat Light"/>
              <a:buNone/>
              <a:defRPr sz="2400">
                <a:solidFill>
                  <a:srgbClr val="555555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cap="none" strike="noStrike"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016000" y="1524000"/>
            <a:ext cx="2235200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5714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  <a:defRPr b="0" i="0" sz="6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5714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  <a:defRPr b="0" i="0" sz="6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5714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  <a:defRPr b="0" i="0" sz="6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5714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  <a:defRPr b="0" i="0" sz="6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5714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  <a:defRPr b="0" i="0" sz="6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5714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  <a:defRPr b="0" i="0" sz="6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5714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  <a:defRPr b="0" i="0" sz="6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5714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  <a:defRPr b="0" i="0" sz="6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57149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  <a:defRPr b="0" i="0" sz="6000" u="none" cap="none" strike="noStrike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7" name="Google Shape;7;p1"/>
          <p:cNvSpPr txBox="1"/>
          <p:nvPr/>
        </p:nvSpPr>
        <p:spPr>
          <a:xfrm>
            <a:off x="1016000" y="13171690"/>
            <a:ext cx="20955000" cy="2794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5714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</a:pPr>
            <a:r>
              <a:rPr b="0" i="0" lang="en-US" sz="180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               © 2025. Confidential &amp; Proprietary.</a:t>
            </a:r>
            <a:endParaRPr/>
          </a:p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3121899" y="13178040"/>
            <a:ext cx="246102" cy="279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0" lvl="0" marL="0" marR="57149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b="0" i="0" sz="180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0" lvl="1" marL="0" marR="57149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b="0" i="0" sz="180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0" lvl="2" marL="0" marR="57149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b="0" i="0" sz="180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0" lvl="3" marL="0" marR="57149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b="0" i="0" sz="180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0" lvl="4" marL="0" marR="57149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b="0" i="0" sz="180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0" lvl="5" marL="0" marR="57149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b="0" i="0" sz="180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0" lvl="6" marL="0" marR="57149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b="0" i="0" sz="180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0" lvl="7" marL="0" marR="57149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b="0" i="0" sz="180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0" lvl="8" marL="0" marR="57149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  <a:defRPr b="0" i="0" sz="180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Image" id="9" name="Google Shape;9;p1"/>
          <p:cNvPicPr preferRelativeResize="0"/>
          <p:nvPr/>
        </p:nvPicPr>
        <p:blipFill rotWithShape="1">
          <a:blip r:embed="rId1">
            <a:alphaModFix/>
          </a:blip>
          <a:srcRect b="0" l="534" r="534" t="0"/>
          <a:stretch/>
        </p:blipFill>
        <p:spPr>
          <a:xfrm>
            <a:off x="1016000" y="12858267"/>
            <a:ext cx="1823992" cy="66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>
            <p:ph idx="1" type="body"/>
          </p:nvPr>
        </p:nvSpPr>
        <p:spPr>
          <a:xfrm>
            <a:off x="1016000" y="2796381"/>
            <a:ext cx="22352000" cy="93935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57149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CBD7"/>
              </a:buClr>
              <a:buSzPts val="3600"/>
              <a:buFont typeface="Montserrat"/>
              <a:buNone/>
              <a:defRPr b="0" i="0" sz="36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411480" lvl="1" marL="914400" marR="57149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555555"/>
              </a:buClr>
              <a:buSzPts val="2880"/>
              <a:buFont typeface="Montserrat"/>
              <a:buChar char="•"/>
              <a:defRPr b="0" i="0" sz="36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457200" lvl="2" marL="1371600" marR="57149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555555"/>
              </a:buClr>
              <a:buSzPts val="3600"/>
              <a:buFont typeface="Montserrat"/>
              <a:buChar char="-"/>
              <a:defRPr b="0" i="0" sz="36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411480" lvl="3" marL="1828800" marR="57149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555555"/>
              </a:buClr>
              <a:buSzPts val="2880"/>
              <a:buFont typeface="Montserrat"/>
              <a:buChar char="•"/>
              <a:defRPr b="0" i="0" sz="36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457200" lvl="4" marL="2286000" marR="57149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555555"/>
              </a:buClr>
              <a:buSzPts val="3600"/>
              <a:buFont typeface="Montserrat"/>
              <a:buChar char="-"/>
              <a:defRPr b="0" i="0" sz="36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457200" lvl="5" marL="2743200" marR="57149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CBD7"/>
              </a:buClr>
              <a:buSzPts val="3600"/>
              <a:buFont typeface="Montserrat"/>
              <a:buChar char="•"/>
              <a:defRPr b="0" i="0" sz="36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457200" lvl="6" marL="3200400" marR="57149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CBD7"/>
              </a:buClr>
              <a:buSzPts val="3600"/>
              <a:buFont typeface="Montserrat"/>
              <a:buChar char="•"/>
              <a:defRPr b="0" i="0" sz="36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457200" lvl="7" marL="3657600" marR="57149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CBD7"/>
              </a:buClr>
              <a:buSzPts val="3600"/>
              <a:buFont typeface="Montserrat"/>
              <a:buChar char="•"/>
              <a:defRPr b="0" i="0" sz="36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457200" lvl="8" marL="4114800" marR="57149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00CBD7"/>
              </a:buClr>
              <a:buSzPts val="3600"/>
              <a:buFont typeface="Montserrat"/>
              <a:buChar char="•"/>
              <a:defRPr b="0" i="0" sz="3600" u="none" cap="none" strike="noStrike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hyperlink" Target="http://www.youtube.com/watch?v=0XQKCPHADLE" TargetMode="External"/><Relationship Id="rId5" Type="http://schemas.openxmlformats.org/officeDocument/2006/relationships/image" Target="../media/image1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9" Type="http://schemas.openxmlformats.org/officeDocument/2006/relationships/image" Target="../media/image5.png"/><Relationship Id="rId5" Type="http://schemas.openxmlformats.org/officeDocument/2006/relationships/image" Target="../media/image24.png"/><Relationship Id="rId6" Type="http://schemas.openxmlformats.org/officeDocument/2006/relationships/image" Target="../media/image8.png"/><Relationship Id="rId7" Type="http://schemas.openxmlformats.org/officeDocument/2006/relationships/image" Target="../media/image21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10" Type="http://schemas.openxmlformats.org/officeDocument/2006/relationships/image" Target="../media/image26.png"/><Relationship Id="rId9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E6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" id="68" name="Google Shape;68;p7"/>
          <p:cNvPicPr preferRelativeResize="0"/>
          <p:nvPr/>
        </p:nvPicPr>
        <p:blipFill rotWithShape="1">
          <a:blip r:embed="rId3">
            <a:alphaModFix amt="49829"/>
          </a:blip>
          <a:srcRect b="44885" l="0" r="1870" t="13009"/>
          <a:stretch/>
        </p:blipFill>
        <p:spPr>
          <a:xfrm>
            <a:off x="-132779" y="6243268"/>
            <a:ext cx="24649733" cy="7486918"/>
          </a:xfrm>
          <a:custGeom>
            <a:rect b="b" l="l" r="r" t="t"/>
            <a:pathLst>
              <a:path extrusionOk="0" h="21507" w="21600">
                <a:moveTo>
                  <a:pt x="0" y="21507"/>
                </a:moveTo>
                <a:lnTo>
                  <a:pt x="0" y="6487"/>
                </a:lnTo>
                <a:cubicBezTo>
                  <a:pt x="3527" y="2105"/>
                  <a:pt x="7262" y="-93"/>
                  <a:pt x="11022" y="4"/>
                </a:cubicBezTo>
                <a:cubicBezTo>
                  <a:pt x="14634" y="96"/>
                  <a:pt x="18214" y="2304"/>
                  <a:pt x="21600" y="6527"/>
                </a:cubicBezTo>
                <a:lnTo>
                  <a:pt x="21600" y="21507"/>
                </a:lnTo>
                <a:lnTo>
                  <a:pt x="0" y="21507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9" name="Google Shape;69;p7"/>
          <p:cNvSpPr txBox="1"/>
          <p:nvPr/>
        </p:nvSpPr>
        <p:spPr>
          <a:xfrm>
            <a:off x="4127500" y="4713800"/>
            <a:ext cx="1639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57149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Ed71: The World’s First A</a:t>
            </a:r>
            <a:r>
              <a:rPr lang="en-US" sz="4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</a:t>
            </a:r>
            <a:r>
              <a:rPr lang="en-US" sz="4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-Native National Education System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0" name="Google Shape;70;p7"/>
          <p:cNvSpPr txBox="1"/>
          <p:nvPr/>
        </p:nvSpPr>
        <p:spPr>
          <a:xfrm>
            <a:off x="7697968" y="12721759"/>
            <a:ext cx="8988064" cy="483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 Light"/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Confidential &amp; Proprietary</a:t>
            </a:r>
            <a:endParaRPr/>
          </a:p>
        </p:txBody>
      </p:sp>
      <p:cxnSp>
        <p:nvCxnSpPr>
          <p:cNvPr id="71" name="Google Shape;71;p7"/>
          <p:cNvCxnSpPr/>
          <p:nvPr/>
        </p:nvCxnSpPr>
        <p:spPr>
          <a:xfrm>
            <a:off x="10247630" y="4193928"/>
            <a:ext cx="3888741" cy="1"/>
          </a:xfrm>
          <a:prstGeom prst="straightConnector1">
            <a:avLst/>
          </a:prstGeom>
          <a:noFill/>
          <a:ln cap="flat" cmpd="sng" w="25400">
            <a:solidFill>
              <a:srgbClr val="59BBF9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descr="Image" id="72" name="Google Shape;72;p7"/>
          <p:cNvPicPr preferRelativeResize="0"/>
          <p:nvPr/>
        </p:nvPicPr>
        <p:blipFill rotWithShape="1">
          <a:blip r:embed="rId4">
            <a:alphaModFix/>
          </a:blip>
          <a:srcRect b="11116" l="8214" r="14807" t="11116"/>
          <a:stretch/>
        </p:blipFill>
        <p:spPr>
          <a:xfrm>
            <a:off x="8713208" y="1201361"/>
            <a:ext cx="6957583" cy="244020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7"/>
          <p:cNvSpPr txBox="1"/>
          <p:nvPr>
            <p:ph idx="1" type="body"/>
          </p:nvPr>
        </p:nvSpPr>
        <p:spPr>
          <a:xfrm>
            <a:off x="1016000" y="762000"/>
            <a:ext cx="22352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 txBox="1"/>
          <p:nvPr/>
        </p:nvSpPr>
        <p:spPr>
          <a:xfrm>
            <a:off x="9593357" y="3522173"/>
            <a:ext cx="8068200" cy="52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Only </a:t>
            </a:r>
            <a:r>
              <a:rPr lang="en-US" sz="36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AI-native education system, purposefully designed for national scale</a:t>
            </a:r>
            <a:endParaRPr sz="36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Commitments to students: love school , learn 2x faster, life skills for the AI age</a:t>
            </a:r>
            <a:endParaRPr sz="36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Creating the next generation of global leaders through life skills and academic mastery</a:t>
            </a:r>
            <a:endParaRPr sz="36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79" name="Google Shape;79;p8"/>
          <p:cNvGrpSpPr/>
          <p:nvPr/>
        </p:nvGrpSpPr>
        <p:grpSpPr>
          <a:xfrm>
            <a:off x="19475400" y="-18500"/>
            <a:ext cx="5149200" cy="14053500"/>
            <a:chOff x="-10" y="-135"/>
            <a:chExt cx="5149200" cy="14053500"/>
          </a:xfrm>
        </p:grpSpPr>
        <p:pic>
          <p:nvPicPr>
            <p:cNvPr descr="Image" id="80" name="Google Shape;80;p8"/>
            <p:cNvPicPr preferRelativeResize="0"/>
            <p:nvPr/>
          </p:nvPicPr>
          <p:blipFill rotWithShape="1">
            <a:blip r:embed="rId3">
              <a:alphaModFix/>
            </a:blip>
            <a:srcRect b="229" l="13147" r="66001" t="219"/>
            <a:stretch/>
          </p:blipFill>
          <p:spPr>
            <a:xfrm>
              <a:off x="3015" y="1830"/>
              <a:ext cx="5111370" cy="13727502"/>
            </a:xfrm>
            <a:custGeom>
              <a:rect b="b" l="l" r="r" t="t"/>
              <a:pathLst>
                <a:path extrusionOk="0" h="21600" w="21600">
                  <a:moveTo>
                    <a:pt x="0" y="21600"/>
                  </a:move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  <a:close/>
                </a:path>
              </a:pathLst>
            </a:custGeom>
            <a:noFill/>
            <a:ln>
              <a:noFill/>
            </a:ln>
          </p:spPr>
        </p:pic>
        <p:sp>
          <p:nvSpPr>
            <p:cNvPr id="81" name="Google Shape;81;p8"/>
            <p:cNvSpPr/>
            <p:nvPr/>
          </p:nvSpPr>
          <p:spPr>
            <a:xfrm flipH="1" rot="10800000">
              <a:off x="-10" y="-135"/>
              <a:ext cx="5149200" cy="14053500"/>
            </a:xfrm>
            <a:prstGeom prst="rect">
              <a:avLst/>
            </a:prstGeom>
            <a:gradFill>
              <a:gsLst>
                <a:gs pos="0">
                  <a:srgbClr val="6ABEE2">
                    <a:alpha val="73333"/>
                  </a:srgbClr>
                </a:gs>
                <a:gs pos="28810">
                  <a:srgbClr val="4D8ECE">
                    <a:alpha val="73333"/>
                  </a:srgbClr>
                </a:gs>
                <a:gs pos="53950">
                  <a:srgbClr val="2F5EB9">
                    <a:alpha val="73333"/>
                  </a:srgbClr>
                </a:gs>
                <a:gs pos="100000">
                  <a:srgbClr val="001498">
                    <a:alpha val="73333"/>
                  </a:srgbClr>
                </a:gs>
              </a:gsLst>
              <a:path path="circle">
                <a:fillToRect b="100%" l="100%" r="0%" t="0%"/>
              </a:path>
              <a:tileRect b="0%" l="0%" r="-10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605B0"/>
                </a:buClr>
                <a:buSzPts val="3600"/>
                <a:buFont typeface="Montserrat"/>
                <a:buNone/>
              </a:pPr>
              <a:r>
                <a:t/>
              </a:r>
              <a:endParaRPr b="0" i="0" sz="36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82" name="Google Shape;82;p8"/>
          <p:cNvSpPr txBox="1"/>
          <p:nvPr>
            <p:ph type="title"/>
          </p:nvPr>
        </p:nvSpPr>
        <p:spPr>
          <a:xfrm>
            <a:off x="957050" y="1836875"/>
            <a:ext cx="19197000" cy="12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</a:pPr>
            <a:r>
              <a:rPr lang="en-US" sz="5200">
                <a:solidFill>
                  <a:schemeClr val="dk1"/>
                </a:solidFill>
              </a:rPr>
              <a:t>‘Educated in the Emirates’ as a Global Credential</a:t>
            </a:r>
            <a:endParaRPr sz="5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</a:pPr>
            <a:r>
              <a:t/>
            </a:r>
            <a:endParaRPr/>
          </a:p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23121899" y="13178040"/>
            <a:ext cx="24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 txBox="1"/>
          <p:nvPr>
            <p:ph idx="1" type="body"/>
          </p:nvPr>
        </p:nvSpPr>
        <p:spPr>
          <a:xfrm>
            <a:off x="1016000" y="909053"/>
            <a:ext cx="13970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E5"/>
              </a:buClr>
              <a:buSzPts val="3200"/>
              <a:buFont typeface="Montserrat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VISION</a:t>
            </a:r>
            <a:r>
              <a:rPr b="1" lang="en-US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/>
          </a:p>
        </p:txBody>
      </p:sp>
      <p:sp>
        <p:nvSpPr>
          <p:cNvPr id="85" name="Google Shape;85;p8"/>
          <p:cNvSpPr/>
          <p:nvPr/>
        </p:nvSpPr>
        <p:spPr>
          <a:xfrm>
            <a:off x="1020926" y="10379871"/>
            <a:ext cx="17521200" cy="1778100"/>
          </a:xfrm>
          <a:prstGeom prst="roundRect">
            <a:avLst>
              <a:gd fmla="val 5714" name="adj"/>
            </a:avLst>
          </a:prstGeom>
          <a:solidFill>
            <a:srgbClr val="EEF3F5"/>
          </a:solidFill>
          <a:ln>
            <a:noFill/>
          </a:ln>
          <a:effectLst>
            <a:outerShdw blurRad="330200" rotWithShape="0" dir="5400000" dist="106259">
              <a:srgbClr val="000000">
                <a:alpha val="1333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rPr lang="en-US" sz="4300">
                <a:latin typeface="Montserrat SemiBold"/>
                <a:ea typeface="Montserrat SemiBold"/>
                <a:cs typeface="Montserrat SemiBold"/>
                <a:sym typeface="Montserrat SemiBold"/>
              </a:rPr>
              <a:t>Our mission</a:t>
            </a:r>
            <a:r>
              <a:rPr lang="en-US" sz="3600">
                <a:latin typeface="Montserrat"/>
                <a:ea typeface="Montserrat"/>
                <a:cs typeface="Montserrat"/>
                <a:sym typeface="Montserrat"/>
              </a:rPr>
              <a:t>: Ed71 is the AI-native public education system for all Emiratis</a:t>
            </a:r>
            <a:endParaRPr sz="36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6" name="Google Shape;8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1253" y="4280449"/>
            <a:ext cx="4196374" cy="2054574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 txBox="1"/>
          <p:nvPr/>
        </p:nvSpPr>
        <p:spPr>
          <a:xfrm>
            <a:off x="957041" y="6754764"/>
            <a:ext cx="7915200" cy="14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“Stanford of K-12 Education”</a:t>
            </a:r>
            <a:endParaRPr sz="3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9" title="macbook-vector-4515471_19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8550" y="3005577"/>
            <a:ext cx="15606902" cy="890895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9"/>
          <p:cNvSpPr txBox="1"/>
          <p:nvPr>
            <p:ph type="title"/>
          </p:nvPr>
        </p:nvSpPr>
        <p:spPr>
          <a:xfrm>
            <a:off x="1016000" y="1524000"/>
            <a:ext cx="22647000" cy="101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800"/>
              <a:t>A video like this, filmed in any Emirati public school</a:t>
            </a:r>
            <a:endParaRPr sz="5800"/>
          </a:p>
        </p:txBody>
      </p:sp>
      <p:sp>
        <p:nvSpPr>
          <p:cNvPr id="94" name="Google Shape;94;p9"/>
          <p:cNvSpPr txBox="1"/>
          <p:nvPr>
            <p:ph idx="1" type="body"/>
          </p:nvPr>
        </p:nvSpPr>
        <p:spPr>
          <a:xfrm>
            <a:off x="1016000" y="762000"/>
            <a:ext cx="22352100" cy="5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STUDENT EXPERIENCE</a:t>
            </a:r>
            <a:endParaRPr/>
          </a:p>
        </p:txBody>
      </p:sp>
      <p:pic>
        <p:nvPicPr>
          <p:cNvPr id="95" name="Google Shape;95;p9" title="Alpha Timeback Students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91200" y="3851750"/>
            <a:ext cx="10833250" cy="681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0"/>
          <p:cNvSpPr txBox="1"/>
          <p:nvPr>
            <p:ph type="title"/>
          </p:nvPr>
        </p:nvSpPr>
        <p:spPr>
          <a:xfrm>
            <a:off x="1112850" y="1798000"/>
            <a:ext cx="22719600" cy="22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</a:pPr>
            <a:r>
              <a:rPr lang="en-US"/>
              <a:t>We have reinvented the school day </a:t>
            </a:r>
            <a:endParaRPr/>
          </a:p>
        </p:txBody>
      </p:sp>
      <p:sp>
        <p:nvSpPr>
          <p:cNvPr id="101" name="Google Shape;101;p10"/>
          <p:cNvSpPr txBox="1"/>
          <p:nvPr/>
        </p:nvSpPr>
        <p:spPr>
          <a:xfrm>
            <a:off x="2493424" y="9386477"/>
            <a:ext cx="8151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The key to your children’s happiness is </a:t>
            </a:r>
            <a:r>
              <a:rPr lang="en-US" sz="4200">
                <a:solidFill>
                  <a:srgbClr val="0000E5"/>
                </a:solidFill>
                <a:latin typeface="Montserrat"/>
                <a:ea typeface="Montserrat"/>
                <a:cs typeface="Montserrat"/>
                <a:sym typeface="Montserrat"/>
              </a:rPr>
              <a:t>high standards</a:t>
            </a:r>
            <a:endParaRPr sz="4200">
              <a:solidFill>
                <a:srgbClr val="0000E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" name="Google Shape;10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525" y="9779341"/>
            <a:ext cx="699300" cy="6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1016000" y="936825"/>
            <a:ext cx="9906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E5"/>
              </a:buClr>
              <a:buSzPts val="3200"/>
              <a:buFont typeface="Montserrat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THE KEY TO SUCCESS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0"/>
          <p:cNvSpPr txBox="1"/>
          <p:nvPr/>
        </p:nvSpPr>
        <p:spPr>
          <a:xfrm>
            <a:off x="1520375" y="3347974"/>
            <a:ext cx="9079200" cy="661800"/>
          </a:xfrm>
          <a:prstGeom prst="rect">
            <a:avLst/>
          </a:prstGeom>
          <a:solidFill>
            <a:srgbClr val="0000E5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43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Core </a:t>
            </a:r>
            <a:r>
              <a:rPr lang="en-US" sz="43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</a:t>
            </a:r>
            <a:r>
              <a:rPr i="0" lang="en-US" sz="43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ruths of </a:t>
            </a:r>
            <a:r>
              <a:rPr lang="en-US" sz="43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</a:t>
            </a:r>
            <a:r>
              <a:rPr i="0" lang="en-US" sz="4300" u="none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ransformation</a:t>
            </a:r>
            <a:endParaRPr sz="39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5" name="Google Shape;105;p10"/>
          <p:cNvSpPr txBox="1"/>
          <p:nvPr/>
        </p:nvSpPr>
        <p:spPr>
          <a:xfrm>
            <a:off x="2448600" y="4782377"/>
            <a:ext cx="8151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Children should </a:t>
            </a:r>
            <a:r>
              <a:rPr lang="en-US" sz="4200">
                <a:solidFill>
                  <a:srgbClr val="0000E5"/>
                </a:solidFill>
                <a:latin typeface="Montserrat"/>
                <a:ea typeface="Montserrat"/>
                <a:cs typeface="Montserrat"/>
                <a:sym typeface="Montserrat"/>
              </a:rPr>
              <a:t>love school</a:t>
            </a:r>
            <a:r>
              <a:rPr lang="en-US" sz="4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more than vacation</a:t>
            </a:r>
            <a:endParaRPr sz="4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6" name="Google Shape;106;p10"/>
          <p:cNvSpPr txBox="1"/>
          <p:nvPr/>
        </p:nvSpPr>
        <p:spPr>
          <a:xfrm>
            <a:off x="2493425" y="7213268"/>
            <a:ext cx="8106300" cy="20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Children can </a:t>
            </a:r>
            <a:r>
              <a:rPr lang="en-US" sz="4200">
                <a:solidFill>
                  <a:srgbClr val="0000E5"/>
                </a:solidFill>
                <a:latin typeface="Montserrat"/>
                <a:ea typeface="Montserrat"/>
                <a:cs typeface="Montserrat"/>
                <a:sym typeface="Montserrat"/>
              </a:rPr>
              <a:t>master academics</a:t>
            </a:r>
            <a:r>
              <a:rPr lang="en-US" sz="4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in 2 hours per day</a:t>
            </a:r>
            <a:endParaRPr sz="4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" name="Google Shape;10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525" y="5198184"/>
            <a:ext cx="699300" cy="69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eate a white clock with black numbers showing the hours from 8-10 highlighted in color 0000E6" id="108" name="Google Shape;10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01260" y="4424312"/>
            <a:ext cx="2222100" cy="22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0"/>
          <p:cNvSpPr txBox="1"/>
          <p:nvPr/>
        </p:nvSpPr>
        <p:spPr>
          <a:xfrm>
            <a:off x="19498662" y="4792552"/>
            <a:ext cx="33051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 hours of academic mastery</a:t>
            </a: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0" name="Google Shape;110;p10"/>
          <p:cNvSpPr txBox="1"/>
          <p:nvPr/>
        </p:nvSpPr>
        <p:spPr>
          <a:xfrm>
            <a:off x="19688025" y="7823200"/>
            <a:ext cx="30237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4 hours of life-skills development</a:t>
            </a: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18265246" y="6673435"/>
            <a:ext cx="862500" cy="889800"/>
          </a:xfrm>
          <a:prstGeom prst="mathPlus">
            <a:avLst>
              <a:gd fmla="val 23520" name="adj1"/>
            </a:avLst>
          </a:prstGeom>
          <a:solidFill>
            <a:srgbClr val="EEF3F5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Create a white clock with black numbers showing the hours from 8-10 highlighted in color 0000E6" id="112" name="Google Shape;11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601260" y="7590262"/>
            <a:ext cx="2222100" cy="22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0"/>
          <p:cNvSpPr/>
          <p:nvPr/>
        </p:nvSpPr>
        <p:spPr>
          <a:xfrm>
            <a:off x="17769410" y="4602337"/>
            <a:ext cx="1877700" cy="1866000"/>
          </a:xfrm>
          <a:prstGeom prst="pie">
            <a:avLst>
              <a:gd fmla="val 7871803" name="adj1"/>
              <a:gd fmla="val 12807937" name="adj2"/>
            </a:avLst>
          </a:prstGeom>
          <a:solidFill>
            <a:srgbClr val="0000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17705010" y="7737887"/>
            <a:ext cx="1983000" cy="1866000"/>
          </a:xfrm>
          <a:prstGeom prst="pie">
            <a:avLst>
              <a:gd fmla="val 13789791" name="adj1"/>
              <a:gd fmla="val 71657" name="adj2"/>
            </a:avLst>
          </a:prstGeom>
          <a:solidFill>
            <a:srgbClr val="0000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525" y="7542517"/>
            <a:ext cx="699300" cy="69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0"/>
          <p:cNvSpPr txBox="1"/>
          <p:nvPr/>
        </p:nvSpPr>
        <p:spPr>
          <a:xfrm>
            <a:off x="11880225" y="9839375"/>
            <a:ext cx="10831500" cy="26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Timeback:</a:t>
            </a:r>
            <a:r>
              <a:rPr lang="en-US" sz="28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the AI and learning science platform delivering academic mastery 10x faster than traditional schooling</a:t>
            </a:r>
            <a:endParaRPr sz="28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8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AlphaCore:</a:t>
            </a:r>
            <a:r>
              <a:rPr lang="en-US" sz="28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an AI-age life-skills curriculum developing student leadership, teamwork, communication, resilience, and other non-academic capabilities </a:t>
            </a:r>
            <a:endParaRPr sz="28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Create a white clock with black numbers showing the hours from 8-10 highlighted in color 0000E6" id="117" name="Google Shape;117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905667" y="5227112"/>
            <a:ext cx="2222100" cy="222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0"/>
          <p:cNvSpPr/>
          <p:nvPr/>
        </p:nvSpPr>
        <p:spPr>
          <a:xfrm>
            <a:off x="13009417" y="5374737"/>
            <a:ext cx="1983000" cy="1866000"/>
          </a:xfrm>
          <a:prstGeom prst="pie">
            <a:avLst>
              <a:gd fmla="val 8790215" name="adj1"/>
              <a:gd fmla="val 71657" name="adj2"/>
            </a:avLst>
          </a:prstGeom>
          <a:solidFill>
            <a:srgbClr val="0000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10"/>
          <p:cNvSpPr/>
          <p:nvPr/>
        </p:nvSpPr>
        <p:spPr>
          <a:xfrm rot="1451960">
            <a:off x="15080951" y="7656892"/>
            <a:ext cx="2372701" cy="28023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F3F5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10"/>
          <p:cNvSpPr/>
          <p:nvPr/>
        </p:nvSpPr>
        <p:spPr>
          <a:xfrm rot="-860571">
            <a:off x="15337961" y="5576837"/>
            <a:ext cx="1971552" cy="28682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F3F5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1" name="Google Shape;121;p10"/>
          <p:cNvSpPr txBox="1"/>
          <p:nvPr/>
        </p:nvSpPr>
        <p:spPr>
          <a:xfrm>
            <a:off x="11880204" y="7823177"/>
            <a:ext cx="40713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6 hours of classroom instruction</a:t>
            </a:r>
            <a:endParaRPr sz="32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2" name="Google Shape;122;p10"/>
          <p:cNvSpPr txBox="1"/>
          <p:nvPr/>
        </p:nvSpPr>
        <p:spPr>
          <a:xfrm>
            <a:off x="11880225" y="3338118"/>
            <a:ext cx="4071300" cy="661800"/>
          </a:xfrm>
          <a:prstGeom prst="rect">
            <a:avLst/>
          </a:prstGeom>
          <a:solidFill>
            <a:srgbClr val="EEF3F5"/>
          </a:solidFill>
          <a:ln>
            <a:noFill/>
          </a:ln>
          <a:effectLst>
            <a:outerShdw blurRad="57150" rotWithShape="0" algn="bl" dir="5400000" dist="19050">
              <a:srgbClr val="000000">
                <a:alpha val="15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Traditional</a:t>
            </a:r>
            <a:endParaRPr sz="39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3" name="Google Shape;123;p10"/>
          <p:cNvSpPr txBox="1"/>
          <p:nvPr/>
        </p:nvSpPr>
        <p:spPr>
          <a:xfrm>
            <a:off x="16995064" y="3329764"/>
            <a:ext cx="5521800" cy="661800"/>
          </a:xfrm>
          <a:prstGeom prst="rect">
            <a:avLst/>
          </a:prstGeom>
          <a:solidFill>
            <a:srgbClr val="EEF3F5"/>
          </a:solidFill>
          <a:ln>
            <a:noFill/>
          </a:ln>
          <a:effectLst>
            <a:outerShdw blurRad="57150" rotWithShape="0" algn="bl" dir="5400000" dist="19050">
              <a:srgbClr val="000000">
                <a:alpha val="15000"/>
              </a:srgb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Alpha Model</a:t>
            </a:r>
            <a:endParaRPr sz="39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 txBox="1"/>
          <p:nvPr/>
        </p:nvSpPr>
        <p:spPr>
          <a:xfrm>
            <a:off x="417350" y="9933588"/>
            <a:ext cx="7002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Exceptional Growth (vs. 1x “expected”)</a:t>
            </a:r>
            <a:endParaRPr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p11"/>
          <p:cNvSpPr txBox="1"/>
          <p:nvPr>
            <p:ph idx="12" type="sldNum"/>
          </p:nvPr>
        </p:nvSpPr>
        <p:spPr>
          <a:xfrm>
            <a:off x="23204195" y="13178040"/>
            <a:ext cx="163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800"/>
              <a:buFont typeface="Montserrat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11"/>
          <p:cNvSpPr txBox="1"/>
          <p:nvPr>
            <p:ph idx="1" type="body"/>
          </p:nvPr>
        </p:nvSpPr>
        <p:spPr>
          <a:xfrm>
            <a:off x="1016000" y="762000"/>
            <a:ext cx="22352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E5"/>
              </a:buClr>
              <a:buSzPts val="3200"/>
              <a:buFont typeface="Montserrat"/>
              <a:buNone/>
            </a:pPr>
            <a:r>
              <a:rPr lang="en-US"/>
              <a:t>OUR RESULTS</a:t>
            </a:r>
            <a:endParaRPr/>
          </a:p>
        </p:txBody>
      </p:sp>
      <p:cxnSp>
        <p:nvCxnSpPr>
          <p:cNvPr id="131" name="Google Shape;131;p11"/>
          <p:cNvCxnSpPr/>
          <p:nvPr/>
        </p:nvCxnSpPr>
        <p:spPr>
          <a:xfrm flipH="1">
            <a:off x="16098475" y="745500"/>
            <a:ext cx="68700" cy="12479100"/>
          </a:xfrm>
          <a:prstGeom prst="straightConnector1">
            <a:avLst/>
          </a:prstGeom>
          <a:noFill/>
          <a:ln cap="flat" cmpd="sng" w="76200">
            <a:solidFill>
              <a:srgbClr val="EEF3F5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32" name="Google Shape;132;p11"/>
          <p:cNvSpPr txBox="1"/>
          <p:nvPr/>
        </p:nvSpPr>
        <p:spPr>
          <a:xfrm>
            <a:off x="7617550" y="9950025"/>
            <a:ext cx="7635600" cy="24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World-Class College Admission</a:t>
            </a:r>
            <a:r>
              <a:rPr lang="en-US" sz="2500">
                <a:latin typeface="Montserrat SemiBold"/>
                <a:ea typeface="Montserrat SemiBold"/>
                <a:cs typeface="Montserrat SemiBold"/>
                <a:sym typeface="Montserrat SemiBold"/>
              </a:rPr>
              <a:t>s</a:t>
            </a:r>
            <a:endParaRPr sz="2500"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 u="sng">
              <a:solidFill>
                <a:srgbClr val="0000E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Char char="●"/>
            </a:pP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Avg. </a:t>
            </a: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SAT: </a:t>
            </a:r>
            <a:r>
              <a:rPr b="1"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1530</a:t>
            </a: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(vs. 1063 national)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Montserrat"/>
              <a:buChar char="●"/>
            </a:pPr>
            <a:r>
              <a:rPr b="1"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94%</a:t>
            </a:r>
            <a:r>
              <a:rPr lang="en-US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students with 4 or 5 on AP</a:t>
            </a:r>
            <a:endParaRPr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1"/>
          <p:cNvSpPr txBox="1"/>
          <p:nvPr>
            <p:ph type="title"/>
          </p:nvPr>
        </p:nvSpPr>
        <p:spPr>
          <a:xfrm>
            <a:off x="1016000" y="1520711"/>
            <a:ext cx="15624600" cy="20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</a:pPr>
            <a:r>
              <a:rPr lang="en-US"/>
              <a:t>The l</a:t>
            </a:r>
            <a:r>
              <a:rPr lang="en-US"/>
              <a:t>earning science has been known for 40 years… </a:t>
            </a:r>
            <a:r>
              <a:rPr lang="en-US">
                <a:solidFill>
                  <a:srgbClr val="0000E6"/>
                </a:solidFill>
              </a:rPr>
              <a:t>we have made it wor</a:t>
            </a:r>
            <a:r>
              <a:rPr lang="en-US">
                <a:solidFill>
                  <a:srgbClr val="0000E6"/>
                </a:solidFill>
              </a:rPr>
              <a:t>k</a:t>
            </a:r>
            <a:endParaRPr>
              <a:solidFill>
                <a:srgbClr val="0000E6"/>
              </a:solidFill>
            </a:endParaRPr>
          </a:p>
        </p:txBody>
      </p:sp>
      <p:sp>
        <p:nvSpPr>
          <p:cNvPr id="134" name="Google Shape;134;p11"/>
          <p:cNvSpPr txBox="1"/>
          <p:nvPr/>
        </p:nvSpPr>
        <p:spPr>
          <a:xfrm>
            <a:off x="16370650" y="1595250"/>
            <a:ext cx="7140300" cy="29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555555"/>
              </a:buClr>
              <a:buSzPts val="2200"/>
              <a:buFont typeface="Montserrat"/>
              <a:buChar char="●"/>
            </a:pPr>
            <a:r>
              <a:rPr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High School students voted to keep school open over summer</a:t>
            </a:r>
            <a:endParaRPr sz="2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2500"/>
              </a:spcBef>
              <a:spcAft>
                <a:spcPts val="0"/>
              </a:spcAft>
              <a:buClr>
                <a:srgbClr val="555555"/>
              </a:buClr>
              <a:buSzPts val="2200"/>
              <a:buFont typeface="Montserrat"/>
              <a:buChar char="●"/>
            </a:pPr>
            <a:r>
              <a:rPr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Over 60% of students would rather go to school than go on vacation</a:t>
            </a:r>
            <a:endParaRPr sz="2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2500"/>
              </a:spcBef>
              <a:spcAft>
                <a:spcPts val="2500"/>
              </a:spcAft>
              <a:buClr>
                <a:srgbClr val="555555"/>
              </a:buClr>
              <a:buSzPts val="2200"/>
              <a:buFont typeface="Montserrat"/>
              <a:buChar char="●"/>
            </a:pPr>
            <a:r>
              <a:rPr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80% of older students say their Guide is one of most influential people in their life</a:t>
            </a:r>
            <a:endParaRPr sz="2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11"/>
          <p:cNvSpPr txBox="1"/>
          <p:nvPr/>
        </p:nvSpPr>
        <p:spPr>
          <a:xfrm>
            <a:off x="16724606" y="596923"/>
            <a:ext cx="5540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0000E6"/>
                </a:solidFill>
                <a:latin typeface="Montserrat"/>
                <a:ea typeface="Montserrat"/>
                <a:cs typeface="Montserrat"/>
                <a:sym typeface="Montserrat"/>
              </a:rPr>
              <a:t>97%</a:t>
            </a:r>
            <a:r>
              <a:rPr b="1" lang="en-US" sz="5000">
                <a:solidFill>
                  <a:srgbClr val="5FA7A6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5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love school</a:t>
            </a:r>
            <a:endParaRPr b="1" sz="5000">
              <a:solidFill>
                <a:srgbClr val="555555"/>
              </a:solidFill>
            </a:endParaRPr>
          </a:p>
        </p:txBody>
      </p:sp>
      <p:sp>
        <p:nvSpPr>
          <p:cNvPr id="136" name="Google Shape;136;p11"/>
          <p:cNvSpPr txBox="1"/>
          <p:nvPr/>
        </p:nvSpPr>
        <p:spPr>
          <a:xfrm>
            <a:off x="16488200" y="5549800"/>
            <a:ext cx="7511100" cy="76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200"/>
              <a:buFont typeface="Montserrat"/>
              <a:buChar char="●"/>
            </a:pPr>
            <a:r>
              <a:rPr b="1"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All Third</a:t>
            </a:r>
            <a:r>
              <a:rPr b="1"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Graders </a:t>
            </a:r>
            <a:r>
              <a:rPr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can solve the Rubik’s cube.</a:t>
            </a:r>
            <a:endParaRPr i="1" sz="2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2200"/>
              <a:buFont typeface="Montserrat"/>
              <a:buChar char="●"/>
            </a:pPr>
            <a:r>
              <a:rPr b="1"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Fifth Graders</a:t>
            </a:r>
            <a:r>
              <a:rPr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presented TED-style talks at NYC open mic nights</a:t>
            </a:r>
            <a:endParaRPr i="1" sz="2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2200"/>
              <a:buFont typeface="Montserrat"/>
              <a:buChar char="●"/>
            </a:pPr>
            <a:r>
              <a:rPr b="1"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Middle Schoolers</a:t>
            </a:r>
            <a:r>
              <a:rPr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placed 2nd in the world and 1st in the U.S. in the prestigious Global AI Debates</a:t>
            </a:r>
            <a:endParaRPr i="1" sz="2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2200"/>
              <a:buFont typeface="Montserrat"/>
              <a:buChar char="●"/>
            </a:pPr>
            <a:r>
              <a:rPr b="1"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High Schoolers </a:t>
            </a:r>
            <a:r>
              <a:rPr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traveled to Ukraine on a humanitarian mission to help kids whose schools were destroyed</a:t>
            </a:r>
            <a:endParaRPr i="1" sz="2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2200"/>
              <a:buFont typeface="Montserrat"/>
              <a:buChar char="●"/>
            </a:pPr>
            <a:r>
              <a:rPr b="1"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Maddie</a:t>
            </a:r>
            <a:r>
              <a:rPr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created the first teen-produced Broadway musical with 67,000 TikTok followers and millions of views</a:t>
            </a:r>
            <a:endParaRPr i="1" sz="2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2200"/>
              <a:buFont typeface="Montserrat"/>
              <a:buChar char="●"/>
            </a:pPr>
            <a:r>
              <a:rPr b="1"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Alex </a:t>
            </a:r>
            <a:r>
              <a:rPr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created “Berry," an AI-powered plush toy for teens' mental health</a:t>
            </a:r>
            <a:endParaRPr i="1" sz="2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555555"/>
              </a:buClr>
              <a:buSzPts val="2200"/>
              <a:buFont typeface="Montserrat"/>
              <a:buChar char="●"/>
            </a:pPr>
            <a:r>
              <a:rPr b="1"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Sloane</a:t>
            </a:r>
            <a:r>
              <a:rPr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built "InnerWorld" app with 2.5M+ social media following, solving teen girl mental health crisis</a:t>
            </a:r>
            <a:endParaRPr i="1" sz="2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68300" lvl="0" marL="457200" rtl="0" algn="l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Clr>
                <a:srgbClr val="555555"/>
              </a:buClr>
              <a:buSzPts val="2200"/>
              <a:buFont typeface="Montserrat"/>
              <a:buChar char="●"/>
            </a:pPr>
            <a:r>
              <a:rPr b="1"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Grace</a:t>
            </a:r>
            <a:r>
              <a:rPr i="1" lang="en-US" sz="22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produced a documentary on cancer with 5 million views, testifying at the U.S. Senate</a:t>
            </a:r>
            <a:endParaRPr i="1" sz="22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11"/>
          <p:cNvSpPr txBox="1"/>
          <p:nvPr/>
        </p:nvSpPr>
        <p:spPr>
          <a:xfrm>
            <a:off x="16488188" y="4585043"/>
            <a:ext cx="7743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Montserrat Light"/>
              <a:buNone/>
            </a:pPr>
            <a:r>
              <a:rPr b="1" lang="en-US" sz="5000">
                <a:solidFill>
                  <a:srgbClr val="0000E6"/>
                </a:solidFill>
                <a:latin typeface="Montserrat"/>
                <a:ea typeface="Montserrat"/>
                <a:cs typeface="Montserrat"/>
                <a:sym typeface="Montserrat"/>
              </a:rPr>
              <a:t>100+</a:t>
            </a:r>
            <a:r>
              <a:rPr b="1" lang="en-US" sz="500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5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life skills projects</a:t>
            </a:r>
            <a:endParaRPr b="1" sz="5000">
              <a:solidFill>
                <a:srgbClr val="555555"/>
              </a:solidFill>
            </a:endParaRPr>
          </a:p>
        </p:txBody>
      </p:sp>
      <p:pic>
        <p:nvPicPr>
          <p:cNvPr id="138" name="Google Shape;138;p11" title="Gemini_Generated_Image_gxg2osgxg2osgxg2 (1).png"/>
          <p:cNvPicPr preferRelativeResize="0"/>
          <p:nvPr/>
        </p:nvPicPr>
        <p:blipFill rotWithShape="1">
          <a:blip r:embed="rId3">
            <a:alphaModFix/>
          </a:blip>
          <a:srcRect b="5586" l="0" r="0" t="9126"/>
          <a:stretch/>
        </p:blipFill>
        <p:spPr>
          <a:xfrm>
            <a:off x="46030" y="4780648"/>
            <a:ext cx="7140301" cy="4905689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1"/>
          <p:cNvSpPr txBox="1"/>
          <p:nvPr/>
        </p:nvSpPr>
        <p:spPr>
          <a:xfrm>
            <a:off x="-64050" y="3775077"/>
            <a:ext cx="76356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Blooms 2-Sigma Problem (1984)</a:t>
            </a:r>
            <a:endParaRPr b="1" sz="28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11"/>
          <p:cNvSpPr txBox="1"/>
          <p:nvPr/>
        </p:nvSpPr>
        <p:spPr>
          <a:xfrm>
            <a:off x="7276450" y="3724800"/>
            <a:ext cx="8317800" cy="7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Timeback Student Achievement</a:t>
            </a:r>
            <a:endParaRPr b="1" sz="28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41" name="Google Shape;141;p11"/>
          <p:cNvCxnSpPr/>
          <p:nvPr/>
        </p:nvCxnSpPr>
        <p:spPr>
          <a:xfrm>
            <a:off x="831350" y="4532198"/>
            <a:ext cx="594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1"/>
          <p:cNvCxnSpPr/>
          <p:nvPr/>
        </p:nvCxnSpPr>
        <p:spPr>
          <a:xfrm>
            <a:off x="7456480" y="4526148"/>
            <a:ext cx="8042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3" name="Google Shape;143;p11"/>
          <p:cNvSpPr/>
          <p:nvPr/>
        </p:nvSpPr>
        <p:spPr>
          <a:xfrm>
            <a:off x="6340625" y="7001098"/>
            <a:ext cx="845700" cy="5715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EF3F5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" name="Google Shape;14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1075" y="4934750"/>
            <a:ext cx="8042700" cy="5177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" name="Google Shape;145;p11"/>
          <p:cNvGrpSpPr/>
          <p:nvPr/>
        </p:nvGrpSpPr>
        <p:grpSpPr>
          <a:xfrm>
            <a:off x="7693756" y="12019062"/>
            <a:ext cx="6260000" cy="445769"/>
            <a:chOff x="1422434" y="11499223"/>
            <a:chExt cx="11105198" cy="790792"/>
          </a:xfrm>
        </p:grpSpPr>
        <p:pic>
          <p:nvPicPr>
            <p:cNvPr id="146" name="Google Shape;146;p1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422434" y="11499223"/>
              <a:ext cx="2372375" cy="7907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1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225396" y="11575423"/>
              <a:ext cx="2372390" cy="66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1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028390" y="11514448"/>
              <a:ext cx="3061673" cy="6667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11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616282" y="11514448"/>
              <a:ext cx="1911350" cy="6667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50" name="Google Shape;150;p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247050" y="12019062"/>
            <a:ext cx="1252129" cy="4139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11"/>
          <p:cNvGraphicFramePr/>
          <p:nvPr/>
        </p:nvGraphicFramePr>
        <p:xfrm>
          <a:off x="788802" y="1075235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{87B2001B-287C-4519-9BCF-9135838FD213}</a:tableStyleId>
              </a:tblPr>
              <a:tblGrid>
                <a:gridCol w="4881875"/>
                <a:gridCol w="1378125"/>
              </a:tblGrid>
              <a:tr h="381000">
                <a:tc>
                  <a:txBody>
                    <a:bodyPr/>
                    <a:lstStyle/>
                    <a:p>
                      <a:pPr indent="-3873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Montserrat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Avg all students growth: </a:t>
                      </a:r>
                      <a:endParaRPr/>
                    </a:p>
                  </a:txBody>
                  <a:tcPr marT="91425" marB="0" marR="91425" marL="91425" anchor="b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2.2x</a:t>
                      </a:r>
                      <a:endParaRPr/>
                    </a:p>
                  </a:txBody>
                  <a:tcPr marT="0" marB="0" marR="91425" marL="91425" anchor="b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873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Montserrat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Top 20% growth:</a:t>
                      </a:r>
                      <a:endParaRPr/>
                    </a:p>
                  </a:txBody>
                  <a:tcPr marT="91425" marB="0" marR="91425" marL="91425" anchor="b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3.9x</a:t>
                      </a:r>
                      <a:endParaRPr/>
                    </a:p>
                  </a:txBody>
                  <a:tcPr marT="0" marB="0" marR="91425" marL="91425" anchor="b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873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Montserrat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Top ⅔ growth:</a:t>
                      </a:r>
                      <a:endParaRPr/>
                    </a:p>
                  </a:txBody>
                  <a:tcPr marT="91425" marB="0" marR="91425" marL="91425" anchor="b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2.6x</a:t>
                      </a:r>
                      <a:endParaRPr/>
                    </a:p>
                  </a:txBody>
                  <a:tcPr marT="0" marB="0" marR="91425" marL="91425" anchor="b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-3873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500"/>
                        <a:buFont typeface="Montserrat"/>
                        <a:buChar char="●"/>
                      </a:pPr>
                      <a:r>
                        <a:rPr lang="en-US" sz="25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 years behind growth:</a:t>
                      </a:r>
                      <a:endParaRPr/>
                    </a:p>
                  </a:txBody>
                  <a:tcPr marT="91425" marB="0" marR="91425" marL="91425" anchor="b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5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4.9x</a:t>
                      </a:r>
                      <a:r>
                        <a:rPr lang="en-US" sz="25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endParaRPr/>
                    </a:p>
                  </a:txBody>
                  <a:tcPr marT="0" marB="0" marR="91425" marL="91425" anchor="b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2" name="Google Shape;152;p11"/>
          <p:cNvCxnSpPr/>
          <p:nvPr/>
        </p:nvCxnSpPr>
        <p:spPr>
          <a:xfrm>
            <a:off x="7617555" y="10574998"/>
            <a:ext cx="8042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" name="Google Shape;153;p11"/>
          <p:cNvCxnSpPr/>
          <p:nvPr/>
        </p:nvCxnSpPr>
        <p:spPr>
          <a:xfrm>
            <a:off x="641375" y="10574998"/>
            <a:ext cx="59496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"/>
          <p:cNvSpPr/>
          <p:nvPr/>
        </p:nvSpPr>
        <p:spPr>
          <a:xfrm>
            <a:off x="13201774" y="2826256"/>
            <a:ext cx="9968700" cy="988200"/>
          </a:xfrm>
          <a:prstGeom prst="roundRect">
            <a:avLst>
              <a:gd fmla="val 9042" name="adj"/>
            </a:avLst>
          </a:prstGeom>
          <a:solidFill>
            <a:srgbClr val="0000E6"/>
          </a:solidFill>
          <a:ln>
            <a:noFill/>
          </a:ln>
          <a:effectLst>
            <a:outerShdw blurRad="330200" rotWithShape="0" dir="5400000" dist="106259">
              <a:srgbClr val="EEF3F5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Ed71: UAE Owned</a:t>
            </a:r>
            <a:endParaRPr sz="4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9" name="Google Shape;159;p12"/>
          <p:cNvSpPr/>
          <p:nvPr/>
        </p:nvSpPr>
        <p:spPr>
          <a:xfrm>
            <a:off x="1150500" y="2818350"/>
            <a:ext cx="9968700" cy="988200"/>
          </a:xfrm>
          <a:prstGeom prst="roundRect">
            <a:avLst>
              <a:gd fmla="val 9042" name="adj"/>
            </a:avLst>
          </a:prstGeom>
          <a:solidFill>
            <a:srgbClr val="0000E6"/>
          </a:solidFill>
          <a:ln>
            <a:noFill/>
          </a:ln>
          <a:effectLst>
            <a:outerShdw blurRad="330200" rotWithShape="0" dir="5400000" dist="106259">
              <a:srgbClr val="EEF3F5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Alpha Education Stack</a:t>
            </a:r>
            <a:endParaRPr sz="4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0" name="Google Shape;160;p12"/>
          <p:cNvSpPr txBox="1"/>
          <p:nvPr>
            <p:ph type="title"/>
          </p:nvPr>
        </p:nvSpPr>
        <p:spPr>
          <a:xfrm>
            <a:off x="1015950" y="1550871"/>
            <a:ext cx="22931700" cy="10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00"/>
              <a:buFont typeface="Montserrat"/>
              <a:buNone/>
            </a:pPr>
            <a:r>
              <a:rPr lang="en-US"/>
              <a:t>Launching UAE's Ed71 on Alpha's full education stack</a:t>
            </a:r>
            <a:endParaRPr/>
          </a:p>
        </p:txBody>
      </p:sp>
      <p:sp>
        <p:nvSpPr>
          <p:cNvPr id="161" name="Google Shape;161;p12"/>
          <p:cNvSpPr txBox="1"/>
          <p:nvPr>
            <p:ph idx="12" type="sldNum"/>
          </p:nvPr>
        </p:nvSpPr>
        <p:spPr>
          <a:xfrm>
            <a:off x="23178846" y="13179241"/>
            <a:ext cx="189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Montserrat"/>
              <a:buNone/>
            </a:pPr>
            <a:fld id="{00000000-1234-1234-1234-123412341234}" type="slidenum">
              <a:rPr lang="en-US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62" name="Google Shape;162;p12"/>
          <p:cNvSpPr txBox="1"/>
          <p:nvPr>
            <p:ph idx="1" type="body"/>
          </p:nvPr>
        </p:nvSpPr>
        <p:spPr>
          <a:xfrm>
            <a:off x="1015950" y="890488"/>
            <a:ext cx="223521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E5"/>
              </a:buClr>
              <a:buSzPts val="3200"/>
              <a:buFont typeface="Montserrat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THE COMPLETE PLATFORM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12"/>
          <p:cNvSpPr/>
          <p:nvPr/>
        </p:nvSpPr>
        <p:spPr>
          <a:xfrm>
            <a:off x="902900" y="10167782"/>
            <a:ext cx="10117200" cy="2622000"/>
          </a:xfrm>
          <a:prstGeom prst="roundRect">
            <a:avLst>
              <a:gd fmla="val 5714" name="adj"/>
            </a:avLst>
          </a:prstGeom>
          <a:solidFill>
            <a:srgbClr val="EEF3F5"/>
          </a:solidFill>
          <a:ln>
            <a:noFill/>
          </a:ln>
          <a:effectLst>
            <a:outerShdw blurRad="330200" rotWithShape="0" dir="5400000" dist="106259">
              <a:srgbClr val="000000">
                <a:alpha val="1333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4" name="Google Shape;16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6491" y="11588744"/>
            <a:ext cx="2375825" cy="756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5973" y="11586146"/>
            <a:ext cx="2375823" cy="875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58566" y="10404844"/>
            <a:ext cx="2929700" cy="93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31929" y="11471397"/>
            <a:ext cx="1983002" cy="991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86511" y="10406667"/>
            <a:ext cx="2222099" cy="108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43354" y="10391733"/>
            <a:ext cx="2222100" cy="8723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12"/>
          <p:cNvCxnSpPr/>
          <p:nvPr/>
        </p:nvCxnSpPr>
        <p:spPr>
          <a:xfrm>
            <a:off x="1249650" y="8336893"/>
            <a:ext cx="977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12"/>
          <p:cNvCxnSpPr/>
          <p:nvPr/>
        </p:nvCxnSpPr>
        <p:spPr>
          <a:xfrm>
            <a:off x="13300925" y="8361634"/>
            <a:ext cx="9770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12"/>
          <p:cNvSpPr txBox="1"/>
          <p:nvPr/>
        </p:nvSpPr>
        <p:spPr>
          <a:xfrm>
            <a:off x="1935174" y="8344706"/>
            <a:ext cx="4195500" cy="8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This </a:t>
            </a:r>
            <a:r>
              <a:rPr lang="en-US" sz="23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Year</a:t>
            </a:r>
            <a:endParaRPr sz="23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3" name="Google Shape;173;p12"/>
          <p:cNvSpPr txBox="1"/>
          <p:nvPr/>
        </p:nvSpPr>
        <p:spPr>
          <a:xfrm>
            <a:off x="1935174" y="8787383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2,500</a:t>
            </a: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students</a:t>
            </a:r>
            <a:endParaRPr sz="23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12"/>
          <p:cNvSpPr txBox="1"/>
          <p:nvPr/>
        </p:nvSpPr>
        <p:spPr>
          <a:xfrm>
            <a:off x="1935174" y="9399269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22</a:t>
            </a: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campuses</a:t>
            </a:r>
            <a:endParaRPr sz="23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6410984" y="8344706"/>
            <a:ext cx="4195500" cy="8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3-Year Target</a:t>
            </a:r>
            <a:endParaRPr sz="23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6" name="Google Shape;176;p12"/>
          <p:cNvSpPr txBox="1"/>
          <p:nvPr/>
        </p:nvSpPr>
        <p:spPr>
          <a:xfrm>
            <a:off x="6330284" y="8774570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100k students</a:t>
            </a:r>
            <a:endParaRPr sz="23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p12"/>
          <p:cNvSpPr txBox="1"/>
          <p:nvPr/>
        </p:nvSpPr>
        <p:spPr>
          <a:xfrm>
            <a:off x="6330284" y="9386456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100 campuses</a:t>
            </a:r>
            <a:endParaRPr sz="23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8" name="Google Shape;178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91977" y="8664983"/>
            <a:ext cx="644171" cy="644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12"/>
          <p:cNvCxnSpPr/>
          <p:nvPr/>
        </p:nvCxnSpPr>
        <p:spPr>
          <a:xfrm>
            <a:off x="4935933" y="9058745"/>
            <a:ext cx="85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0" name="Google Shape;180;p12"/>
          <p:cNvCxnSpPr/>
          <p:nvPr/>
        </p:nvCxnSpPr>
        <p:spPr>
          <a:xfrm>
            <a:off x="4935933" y="9673482"/>
            <a:ext cx="85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" name="Google Shape;181;p12"/>
          <p:cNvSpPr txBox="1"/>
          <p:nvPr/>
        </p:nvSpPr>
        <p:spPr>
          <a:xfrm>
            <a:off x="14444005" y="8344706"/>
            <a:ext cx="4195500" cy="8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Next Year</a:t>
            </a:r>
            <a:endParaRPr sz="23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2" name="Google Shape;182;p12"/>
          <p:cNvSpPr txBox="1"/>
          <p:nvPr/>
        </p:nvSpPr>
        <p:spPr>
          <a:xfrm>
            <a:off x="14444005" y="8787383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k students</a:t>
            </a:r>
            <a:endParaRPr sz="23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12"/>
          <p:cNvSpPr txBox="1"/>
          <p:nvPr/>
        </p:nvSpPr>
        <p:spPr>
          <a:xfrm>
            <a:off x="14449952" y="9405681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2 communities</a:t>
            </a:r>
            <a:endParaRPr sz="23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12"/>
          <p:cNvSpPr txBox="1"/>
          <p:nvPr/>
        </p:nvSpPr>
        <p:spPr>
          <a:xfrm>
            <a:off x="18588947" y="8344706"/>
            <a:ext cx="4195500" cy="8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5-Year Target</a:t>
            </a:r>
            <a:endParaRPr sz="23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5" name="Google Shape;185;p12"/>
          <p:cNvSpPr txBox="1"/>
          <p:nvPr/>
        </p:nvSpPr>
        <p:spPr>
          <a:xfrm>
            <a:off x="18508247" y="8774570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00k students</a:t>
            </a:r>
            <a:endParaRPr sz="23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12"/>
          <p:cNvSpPr txBox="1"/>
          <p:nvPr/>
        </p:nvSpPr>
        <p:spPr>
          <a:xfrm>
            <a:off x="18514194" y="9392869"/>
            <a:ext cx="435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50+ </a:t>
            </a:r>
            <a:r>
              <a:rPr lang="en-US" sz="23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communities</a:t>
            </a:r>
            <a:endParaRPr sz="23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7" name="Google Shape;187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800809" y="8664983"/>
            <a:ext cx="644171" cy="64417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2"/>
          <p:cNvCxnSpPr/>
          <p:nvPr/>
        </p:nvCxnSpPr>
        <p:spPr>
          <a:xfrm>
            <a:off x="17267757" y="9058745"/>
            <a:ext cx="85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9" name="Google Shape;189;p12"/>
          <p:cNvCxnSpPr/>
          <p:nvPr/>
        </p:nvCxnSpPr>
        <p:spPr>
          <a:xfrm>
            <a:off x="17267757" y="9673482"/>
            <a:ext cx="858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12"/>
          <p:cNvSpPr/>
          <p:nvPr/>
        </p:nvSpPr>
        <p:spPr>
          <a:xfrm>
            <a:off x="11715325" y="4035025"/>
            <a:ext cx="858600" cy="3742800"/>
          </a:xfrm>
          <a:prstGeom prst="homePlate">
            <a:avLst>
              <a:gd fmla="val 50000" name="adj"/>
            </a:avLst>
          </a:prstGeom>
          <a:solidFill>
            <a:srgbClr val="EEF3F5"/>
          </a:solidFill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1" name="Google Shape;191;p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91978" y="9298858"/>
            <a:ext cx="644175" cy="635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800803" y="9298858"/>
            <a:ext cx="644175" cy="63535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2"/>
          <p:cNvSpPr/>
          <p:nvPr/>
        </p:nvSpPr>
        <p:spPr>
          <a:xfrm>
            <a:off x="13051558" y="10129858"/>
            <a:ext cx="10117200" cy="2622000"/>
          </a:xfrm>
          <a:prstGeom prst="roundRect">
            <a:avLst>
              <a:gd fmla="val 5714" name="adj"/>
            </a:avLst>
          </a:prstGeom>
          <a:solidFill>
            <a:srgbClr val="EEF3F5"/>
          </a:solidFill>
          <a:ln>
            <a:noFill/>
          </a:ln>
          <a:effectLst>
            <a:outerShdw blurRad="330200" rotWithShape="0" dir="5400000" dist="106259">
              <a:srgbClr val="000000">
                <a:alpha val="1333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Montserrat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12"/>
          <p:cNvSpPr txBox="1"/>
          <p:nvPr/>
        </p:nvSpPr>
        <p:spPr>
          <a:xfrm>
            <a:off x="13446125" y="10333150"/>
            <a:ext cx="9535200" cy="21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$25k</a:t>
            </a:r>
            <a:r>
              <a:rPr lang="en-US" sz="2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2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per student</a:t>
            </a:r>
            <a:r>
              <a:rPr lang="en-US" sz="2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 sz="2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annual budget</a:t>
            </a:r>
            <a:r>
              <a:rPr lang="en-US" sz="2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- ~2x current public funding</a:t>
            </a:r>
            <a:endParaRPr sz="20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800"/>
              </a:spcBef>
              <a:spcAft>
                <a:spcPts val="0"/>
              </a:spcAft>
              <a:buClr>
                <a:srgbClr val="555555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$1.5B up-front spend </a:t>
            </a:r>
            <a:endParaRPr b="1" sz="20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800"/>
              </a:spcBef>
              <a:spcAft>
                <a:spcPts val="0"/>
              </a:spcAft>
              <a:buClr>
                <a:srgbClr val="555555"/>
              </a:buClr>
              <a:buSzPts val="2000"/>
              <a:buFont typeface="Montserrat"/>
              <a:buChar char="○"/>
            </a:pPr>
            <a:r>
              <a:rPr lang="en-US" sz="2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$750m UAE asset and infrastructure development</a:t>
            </a:r>
            <a:endParaRPr sz="20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spcBef>
                <a:spcPts val="800"/>
              </a:spcBef>
              <a:spcAft>
                <a:spcPts val="0"/>
              </a:spcAft>
              <a:buClr>
                <a:srgbClr val="555555"/>
              </a:buClr>
              <a:buSzPts val="2000"/>
              <a:buFont typeface="Montserrat"/>
              <a:buChar char="○"/>
            </a:pPr>
            <a:r>
              <a:rPr lang="en-US" sz="2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$750m prepaid fees to Alpha (for first 100k student-years)</a:t>
            </a:r>
            <a:endParaRPr sz="20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0" marL="457200" rtl="0" algn="l">
              <a:spcBef>
                <a:spcPts val="800"/>
              </a:spcBef>
              <a:spcAft>
                <a:spcPts val="800"/>
              </a:spcAft>
              <a:buClr>
                <a:srgbClr val="555555"/>
              </a:buClr>
              <a:buSzPts val="2000"/>
              <a:buFont typeface="Montserrat"/>
              <a:buChar char="●"/>
            </a:pPr>
            <a:r>
              <a:rPr b="1" lang="en-US" sz="2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First schools open SY26-27</a:t>
            </a:r>
            <a:r>
              <a:rPr lang="en-US" sz="20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 - start with 2 Abu Dhabi model schools</a:t>
            </a:r>
            <a:endParaRPr sz="20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95" name="Google Shape;195;p12"/>
          <p:cNvGraphicFramePr/>
          <p:nvPr/>
        </p:nvGraphicFramePr>
        <p:xfrm>
          <a:off x="1150500" y="39524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{87B2001B-287C-4519-9BCF-9135838FD213}</a:tableStyleId>
              </a:tblPr>
              <a:tblGrid>
                <a:gridCol w="4397650"/>
                <a:gridCol w="5571050"/>
                <a:gridCol w="2082575"/>
                <a:gridCol w="5539325"/>
                <a:gridCol w="4397650"/>
              </a:tblGrid>
              <a:tr h="7255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Parent Education System</a:t>
                      </a:r>
                      <a:r>
                        <a:rPr lang="en-US" sz="2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: </a:t>
                      </a:r>
                      <a:r>
                        <a:rPr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Parents demand outcomes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Education Sovereignty:</a:t>
                      </a:r>
                      <a:r>
                        <a:rPr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UAE owns the critical pieces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7255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Reinvented School Day: </a:t>
                      </a:r>
                      <a:r>
                        <a:rPr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 hrs of academics + life skills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Infrastructure:</a:t>
                      </a:r>
                      <a:r>
                        <a:rPr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Built to scale across 100+ schools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7255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Timeback</a:t>
                      </a:r>
                      <a:r>
                        <a:rPr b="1" baseline="30000"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®</a:t>
                      </a:r>
                      <a:r>
                        <a:rPr b="1"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</a:t>
                      </a:r>
                      <a:r>
                        <a:rPr lang="en-US" sz="26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 </a:t>
                      </a:r>
                      <a:r>
                        <a:rPr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AI platform for 10x faster mastery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Localized AI Apps:</a:t>
                      </a:r>
                      <a:r>
                        <a:rPr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Arabic, Islamic, Social</a:t>
                      </a:r>
                      <a:r>
                        <a:rPr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Studies, and ESL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7255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AlphaCore</a:t>
                      </a:r>
                      <a:r>
                        <a:rPr b="1" baseline="30000" lang="en-US" sz="24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TM</a:t>
                      </a:r>
                      <a:r>
                        <a:rPr b="1"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</a:t>
                      </a:r>
                      <a:r>
                        <a:rPr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The strongest K-12 life-skills curriculum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AsasCore:</a:t>
                      </a:r>
                      <a:r>
                        <a:rPr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Emirati life-skills system based on AlphaCore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7255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Guide School:</a:t>
                      </a:r>
                      <a:r>
                        <a:rPr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Talent academy for training guides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Talent Academy:</a:t>
                      </a:r>
                      <a:r>
                        <a:rPr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Recruit and train UAE Ed71 Guides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7255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Incept eduLLM:</a:t>
                      </a:r>
                      <a:r>
                        <a:rPr lang="en-US" sz="26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Personalized content generation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UAE eduLLM:</a:t>
                      </a:r>
                      <a:r>
                        <a:rPr lang="en-US" sz="2615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Embedded UAE laws, values, and culture</a:t>
                      </a:r>
                      <a:endParaRPr/>
                    </a:p>
                  </a:txBody>
                  <a:tcPr marT="0" marB="0" marR="0" marL="0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20050" y="-32350"/>
            <a:ext cx="24384000" cy="13716000"/>
          </a:xfrm>
          <a:prstGeom prst="rect">
            <a:avLst/>
          </a:prstGeom>
          <a:solidFill>
            <a:srgbClr val="0000E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Image" id="201" name="Google Shape;201;p13"/>
          <p:cNvPicPr preferRelativeResize="0"/>
          <p:nvPr/>
        </p:nvPicPr>
        <p:blipFill rotWithShape="1">
          <a:blip r:embed="rId3">
            <a:alphaModFix/>
          </a:blip>
          <a:srcRect b="11121" l="8213" r="14810" t="11113"/>
          <a:stretch/>
        </p:blipFill>
        <p:spPr>
          <a:xfrm>
            <a:off x="8713208" y="4330311"/>
            <a:ext cx="6957583" cy="244020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3"/>
          <p:cNvSpPr txBox="1"/>
          <p:nvPr/>
        </p:nvSpPr>
        <p:spPr>
          <a:xfrm>
            <a:off x="9184825" y="7452175"/>
            <a:ext cx="6957600" cy="14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Financial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203" name="Google Shape;203;p13"/>
          <p:cNvCxnSpPr/>
          <p:nvPr/>
        </p:nvCxnSpPr>
        <p:spPr>
          <a:xfrm>
            <a:off x="9568000" y="7111350"/>
            <a:ext cx="5060400" cy="0"/>
          </a:xfrm>
          <a:prstGeom prst="straightConnector1">
            <a:avLst/>
          </a:prstGeom>
          <a:noFill/>
          <a:ln cap="flat" cmpd="sng" w="25400">
            <a:solidFill>
              <a:srgbClr val="59BBF9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4"/>
          <p:cNvSpPr txBox="1"/>
          <p:nvPr>
            <p:ph type="title"/>
          </p:nvPr>
        </p:nvSpPr>
        <p:spPr>
          <a:xfrm>
            <a:off x="1016000" y="1373605"/>
            <a:ext cx="22352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</a:pPr>
            <a:r>
              <a:rPr lang="en-US"/>
              <a:t>Ed71 </a:t>
            </a:r>
            <a:r>
              <a:rPr lang="en-US"/>
              <a:t>Commercial</a:t>
            </a:r>
            <a:r>
              <a:rPr lang="en-US"/>
              <a:t> &amp; Investment Structure</a:t>
            </a:r>
            <a:endParaRPr/>
          </a:p>
        </p:txBody>
      </p:sp>
      <p:sp>
        <p:nvSpPr>
          <p:cNvPr id="209" name="Google Shape;209;p14"/>
          <p:cNvSpPr txBox="1"/>
          <p:nvPr>
            <p:ph idx="1" type="body"/>
          </p:nvPr>
        </p:nvSpPr>
        <p:spPr>
          <a:xfrm>
            <a:off x="1016000" y="762000"/>
            <a:ext cx="2235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E5"/>
              </a:buClr>
              <a:buSzPts val="3200"/>
              <a:buFont typeface="Montserrat"/>
              <a:buNone/>
            </a:pPr>
            <a:r>
              <a:rPr lang="en-US"/>
              <a:t>PUBLICLY FUNDED, PRIVATELY OPERATED SCHOOLS</a:t>
            </a:r>
            <a:endParaRPr/>
          </a:p>
        </p:txBody>
      </p:sp>
      <p:sp>
        <p:nvSpPr>
          <p:cNvPr id="210" name="Google Shape;210;p14"/>
          <p:cNvSpPr/>
          <p:nvPr/>
        </p:nvSpPr>
        <p:spPr>
          <a:xfrm>
            <a:off x="1060263" y="2553568"/>
            <a:ext cx="14348700" cy="948300"/>
          </a:xfrm>
          <a:prstGeom prst="roundRect">
            <a:avLst>
              <a:gd fmla="val 9042" name="adj"/>
            </a:avLst>
          </a:prstGeom>
          <a:solidFill>
            <a:srgbClr val="0000E6"/>
          </a:solidFill>
          <a:ln>
            <a:noFill/>
          </a:ln>
          <a:effectLst>
            <a:outerShdw blurRad="330200" rotWithShape="0" dir="5400000" dist="106259">
              <a:srgbClr val="EEF3F5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ontserrat SemiBold"/>
              <a:buNone/>
            </a:pPr>
            <a:r>
              <a:rPr b="1" lang="en-US" sz="4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Commercial Structure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211" name="Google Shape;211;p14"/>
          <p:cNvSpPr/>
          <p:nvPr/>
        </p:nvSpPr>
        <p:spPr>
          <a:xfrm>
            <a:off x="16155426" y="2553568"/>
            <a:ext cx="7032000" cy="948300"/>
          </a:xfrm>
          <a:prstGeom prst="roundRect">
            <a:avLst>
              <a:gd fmla="val 9042" name="adj"/>
            </a:avLst>
          </a:prstGeom>
          <a:solidFill>
            <a:srgbClr val="0000E6"/>
          </a:solidFill>
          <a:ln>
            <a:noFill/>
          </a:ln>
          <a:effectLst>
            <a:outerShdw blurRad="330200" rotWithShape="0" dir="5400000" dist="106259">
              <a:srgbClr val="EEF3F5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Investments (Optional)</a:t>
            </a:r>
            <a:endParaRPr b="1" sz="40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2" name="Google Shape;212;p14"/>
          <p:cNvSpPr/>
          <p:nvPr/>
        </p:nvSpPr>
        <p:spPr>
          <a:xfrm>
            <a:off x="1060263" y="3623872"/>
            <a:ext cx="14348700" cy="670800"/>
          </a:xfrm>
          <a:prstGeom prst="roundRect">
            <a:avLst>
              <a:gd fmla="val 9042" name="adj"/>
            </a:avLst>
          </a:prstGeom>
          <a:solidFill>
            <a:srgbClr val="CBCBCB"/>
          </a:solidFill>
          <a:ln>
            <a:noFill/>
          </a:ln>
          <a:effectLst>
            <a:outerShdw blurRad="330200" rotWithShape="0" dir="5400000" dist="106259">
              <a:srgbClr val="EEF3F5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Upfront</a:t>
            </a:r>
            <a:endParaRPr b="1" sz="3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3" name="Google Shape;213;p14"/>
          <p:cNvSpPr/>
          <p:nvPr/>
        </p:nvSpPr>
        <p:spPr>
          <a:xfrm>
            <a:off x="1060263" y="8620141"/>
            <a:ext cx="14348700" cy="670800"/>
          </a:xfrm>
          <a:prstGeom prst="roundRect">
            <a:avLst>
              <a:gd fmla="val 9042" name="adj"/>
            </a:avLst>
          </a:prstGeom>
          <a:solidFill>
            <a:srgbClr val="CBCBCB"/>
          </a:solidFill>
          <a:ln>
            <a:noFill/>
          </a:ln>
          <a:effectLst>
            <a:outerShdw blurRad="330200" rotWithShape="0" dir="5400000" dist="106259">
              <a:srgbClr val="EEF3F5">
                <a:alpha val="23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Ongoing</a:t>
            </a:r>
            <a:endParaRPr b="1" sz="37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214" name="Google Shape;214;p14"/>
          <p:cNvGraphicFramePr/>
          <p:nvPr/>
        </p:nvGraphicFramePr>
        <p:xfrm>
          <a:off x="1060238" y="447900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{7306AD35-B0BA-4546-940F-582681F14A6E}</a:tableStyleId>
              </a:tblPr>
              <a:tblGrid>
                <a:gridCol w="4944675"/>
                <a:gridCol w="2990175"/>
                <a:gridCol w="6413825"/>
              </a:tblGrid>
              <a:tr h="56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Item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Upfront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Recipient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AlphaCore License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$250M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Alpha Holdings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UAE EdTech App R&amp;D 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$250M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Local expense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AsasCore R&amp;D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$250M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Local expense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Management Fee Prepay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$250M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Prepaid Opex for 100k student-years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TimeBack License Fee Prepay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$500M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Prepaid Opex for 100k student-years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4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Total Ed71 Schools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$1.5B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/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5" name="Google Shape;215;p14"/>
          <p:cNvGraphicFramePr/>
          <p:nvPr/>
        </p:nvGraphicFramePr>
        <p:xfrm>
          <a:off x="1060276" y="94206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{7306AD35-B0BA-4546-940F-582681F14A6E}</a:tableStyleId>
              </a:tblPr>
              <a:tblGrid>
                <a:gridCol w="4944625"/>
                <a:gridCol w="2990225"/>
                <a:gridCol w="6413825"/>
              </a:tblGrid>
              <a:tr h="50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Item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Ongoing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Recipient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</a:tr>
              <a:tr h="50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Parent Edu / Launch / Guides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$25-50M / yr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Local expense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Additional</a:t>
                      </a: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 School Funding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$1B / yr*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Local expense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Management Fee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10% budget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OpEx to Alpha Holdings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TimeBack License Fee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20% budget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OpEx to Alpha Holdings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8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Total Ed71 Schools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Scale dependent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6" name="Google Shape;216;p14"/>
          <p:cNvGraphicFramePr/>
          <p:nvPr/>
        </p:nvGraphicFramePr>
        <p:xfrm>
          <a:off x="16155426" y="36018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{7306AD35-B0BA-4546-940F-582681F14A6E}</a:tableStyleId>
              </a:tblPr>
              <a:tblGrid>
                <a:gridCol w="2710800"/>
                <a:gridCol w="1707650"/>
                <a:gridCol w="1272175"/>
                <a:gridCol w="1341375"/>
              </a:tblGrid>
              <a:tr h="510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Investment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Amount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Val.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Timing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</a:tr>
              <a:tr h="91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Incept Labs (eduLLM)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$1B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$10B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2026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7975">
                <a:tc gridSpan="4">
                  <a:txBody>
                    <a:bodyPr/>
                    <a:lstStyle/>
                    <a:p>
                      <a:pPr indent="-3302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Montserrat SemiBold"/>
                        <a:buChar char="+"/>
                      </a:pPr>
                      <a:r>
                        <a:rPr i="1" lang="en-US" sz="16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optional $250M directed development fee for UAE-specific customizations (language, laws, customs, culture, values)</a:t>
                      </a:r>
                      <a:endParaRPr i="1" sz="16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  <a:tr h="91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Alpha Holdings (2026 round)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$100M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$10B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2026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Alpha Holdings (2027 round)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$1B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$100B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2027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7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TimeBack edu video game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$20M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$1B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Dec 2025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Total 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$2.12B</a:t>
                      </a:r>
                      <a:endParaRPr sz="240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US" sz="1600"/>
                        <a:t>(plus optional $250M directed development fee)</a:t>
                      </a:r>
                      <a:endParaRPr i="1" sz="1600"/>
                    </a:p>
                  </a:txBody>
                  <a:tcPr marT="45725" marB="45725" marR="45725" marL="45725" anchor="ctr">
                    <a:lnL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CBCBC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3F5"/>
                    </a:solidFill>
                  </a:tcPr>
                </a:tc>
                <a:tc hMerge="1"/>
              </a:tr>
            </a:tbl>
          </a:graphicData>
        </a:graphic>
      </p:graphicFrame>
      <p:sp>
        <p:nvSpPr>
          <p:cNvPr id="217" name="Google Shape;217;p14"/>
          <p:cNvSpPr txBox="1"/>
          <p:nvPr/>
        </p:nvSpPr>
        <p:spPr>
          <a:xfrm>
            <a:off x="5466856" y="12453090"/>
            <a:ext cx="4098900" cy="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555555"/>
                </a:solidFill>
                <a:latin typeface="Montserrat"/>
                <a:ea typeface="Montserrat"/>
                <a:cs typeface="Montserrat"/>
                <a:sym typeface="Montserrat"/>
              </a:rPr>
              <a:t>* per 100k students</a:t>
            </a:r>
            <a:endParaRPr i="1" sz="1600">
              <a:solidFill>
                <a:srgbClr val="5555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/>
          <p:nvPr>
            <p:ph idx="1" type="body"/>
          </p:nvPr>
        </p:nvSpPr>
        <p:spPr>
          <a:xfrm>
            <a:off x="1016000" y="762000"/>
            <a:ext cx="2235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E5"/>
              </a:buClr>
              <a:buSzPts val="3200"/>
              <a:buFont typeface="Montserrat"/>
              <a:buNone/>
            </a:pPr>
            <a:r>
              <a:rPr lang="en-US"/>
              <a:t>TIMEBACK CREATES COST ADVANTAGES</a:t>
            </a:r>
            <a:endParaRPr/>
          </a:p>
        </p:txBody>
      </p:sp>
      <p:graphicFrame>
        <p:nvGraphicFramePr>
          <p:cNvPr id="223" name="Google Shape;223;p15"/>
          <p:cNvGraphicFramePr/>
          <p:nvPr/>
        </p:nvGraphicFramePr>
        <p:xfrm>
          <a:off x="3370239" y="35296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{7306AD35-B0BA-4546-940F-582681F14A6E}</a:tableStyleId>
              </a:tblPr>
              <a:tblGrid>
                <a:gridCol w="4326825"/>
                <a:gridCol w="2307325"/>
                <a:gridCol w="2307325"/>
                <a:gridCol w="2307325"/>
                <a:gridCol w="5699675"/>
              </a:tblGrid>
              <a:tr h="85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Item (with per student P&amp;L)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Conventional School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Timeback + Teachers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Timeback + Life Skills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Notes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FUNDING: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</a:tr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Tuition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$25,000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$25,000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$25,000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Budget for $25,000 school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COSTS: 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b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</a:tr>
              <a:tr h="604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Guides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$13,750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$2,500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$4,500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Timeback alone allows lower ratios with less specialized guides.  </a:t>
                      </a:r>
                      <a:endParaRPr sz="24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Life skills requires a higher caliber guide.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Timeback / Software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Timeback fee 20% of Tuition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Programs and Life Skills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$4,250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Timeback leverage allows spend on Life Skills programming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0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Current 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$13,750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$7,500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$13,750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</a:tr>
              <a:tr h="110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Education Outcome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Current Baseline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As Good or Better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World Class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24" name="Google Shape;224;p15"/>
          <p:cNvSpPr txBox="1"/>
          <p:nvPr>
            <p:ph type="title"/>
          </p:nvPr>
        </p:nvSpPr>
        <p:spPr>
          <a:xfrm>
            <a:off x="1016000" y="1373605"/>
            <a:ext cx="22352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</a:pPr>
            <a:r>
              <a:rPr lang="en-US"/>
              <a:t>Timeback frees budget and time for life skills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/>
          <p:nvPr>
            <p:ph idx="1" type="body"/>
          </p:nvPr>
        </p:nvSpPr>
        <p:spPr>
          <a:xfrm>
            <a:off x="1016000" y="762000"/>
            <a:ext cx="223521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E5"/>
              </a:buClr>
              <a:buSzPts val="3200"/>
              <a:buFont typeface="Montserrat"/>
              <a:buNone/>
            </a:pPr>
            <a:r>
              <a:rPr lang="en-US"/>
              <a:t>ED71 SCHOOL COST STRUCTURE</a:t>
            </a:r>
            <a:endParaRPr/>
          </a:p>
        </p:txBody>
      </p:sp>
      <p:graphicFrame>
        <p:nvGraphicFramePr>
          <p:cNvPr id="230" name="Google Shape;230;p16"/>
          <p:cNvGraphicFramePr/>
          <p:nvPr/>
        </p:nvGraphicFramePr>
        <p:xfrm>
          <a:off x="1016000" y="317140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{7306AD35-B0BA-4546-940F-582681F14A6E}</a:tableStyleId>
              </a:tblPr>
              <a:tblGrid>
                <a:gridCol w="4817725"/>
                <a:gridCol w="2569100"/>
                <a:gridCol w="2569100"/>
                <a:gridCol w="6346350"/>
                <a:gridCol w="6341625"/>
              </a:tblGrid>
              <a:tr h="85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Item (with per student P&amp;L)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Alpha 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@ $50k Tuition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AH / Ed71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@ $25k Budget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Notes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FUNDING: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Tuition / Budget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$50,000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$25,000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COSTS: </a:t>
                      </a:r>
                      <a:endParaRPr b="1"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b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4ECF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14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Guides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$14,000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$4,500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Alpha 11:1 ratio &amp; higher comp, AH/Ed71 25:1 ratio &amp; lower comp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1" lang="en-US" sz="2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Cost to Educate</a:t>
                      </a:r>
                      <a:endParaRPr i="1" sz="2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Montserrat"/>
                        <a:buChar char="●"/>
                      </a:pPr>
                      <a:r>
                        <a:rPr i="1" lang="en-US" sz="2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Conventional schools have the same cost to educate, but with close to 100% of spend on teachers</a:t>
                      </a:r>
                      <a:endParaRPr i="1" sz="2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indent="-3683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2200"/>
                        <a:buFont typeface="Montserrat"/>
                        <a:buChar char="●"/>
                      </a:pPr>
                      <a:r>
                        <a:rPr i="1" lang="en-US" sz="22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Timeback and Life Skills spend same as at gt.school and Texas Sports Academy </a:t>
                      </a:r>
                      <a:endParaRPr i="1" sz="22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Timeback / Software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$10,000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$5,000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20% of Budget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1104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Programs and Life Skills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$9,000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$4,250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Alpha is 2x other AH/Ed71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  <a:tr h="340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Other HC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$1,750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$1,750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00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Facility / CapEx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$8,750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$3,000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Includes depreciated capex to convert locations to Timeback school layout and design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9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Misc Expense (computer, etc.)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$1,500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$1,500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Management Fee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$2,500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10% of Budget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8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Ed71 IP Amortization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$2,072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Full amortization of IP costs over 5 year target student count of ~362,000</a:t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28575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0" marB="0" marR="0" marL="0" anchor="ctr">
                    <a:lnL cap="flat" cmpd="sng" w="1270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7B7B7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1" name="Google Shape;231;p16"/>
          <p:cNvSpPr txBox="1"/>
          <p:nvPr>
            <p:ph type="title"/>
          </p:nvPr>
        </p:nvSpPr>
        <p:spPr>
          <a:xfrm>
            <a:off x="1016000" y="1373605"/>
            <a:ext cx="22352100" cy="10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Montserrat SemiBold"/>
              <a:buNone/>
            </a:pPr>
            <a:r>
              <a:rPr lang="en-US"/>
              <a:t>Budget like other $25k Alpha Holding Schools</a:t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8402825" y="3171400"/>
            <a:ext cx="2622600" cy="9124500"/>
          </a:xfrm>
          <a:prstGeom prst="roundRect">
            <a:avLst>
              <a:gd fmla="val 4427" name="adj"/>
            </a:avLst>
          </a:prstGeom>
          <a:noFill/>
          <a:ln cap="flat" cmpd="sng" w="76200">
            <a:solidFill>
              <a:srgbClr val="0000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